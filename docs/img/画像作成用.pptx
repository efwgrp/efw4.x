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8" r:id="rId2"/>
    <p:sldId id="256" r:id="rId3"/>
    <p:sldId id="257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725" autoAdjust="0"/>
  </p:normalViewPr>
  <p:slideViewPr>
    <p:cSldViewPr snapToGrid="0">
      <p:cViewPr varScale="1">
        <p:scale>
          <a:sx n="63" d="100"/>
          <a:sy n="63" d="100"/>
        </p:scale>
        <p:origin x="56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5A68BC-8F81-4B0D-92FD-71EB7813FF7D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0D2189-677E-4281-8FAF-152C4B6412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4384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0D2189-677E-4281-8FAF-152C4B641222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5610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1E21FB-7B9B-4B8A-BD31-7E3C9BFD85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315E089-8773-43B2-B379-FA9E4A5B72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6A73E2-A2A5-45A4-B561-E4C539A39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EFEEF-E18A-4475-85ED-60EC09292CB4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FA4A5F-70F7-40C6-8E04-CDBAE44BC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BBD48F7-CCD2-4858-BCC3-7974E3B0B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62DA-B8AA-43C4-BB0B-BC82842477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2408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FA61FD-958C-42B9-8368-17ED26C98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EE38893-5B98-4D84-91BC-3D383DE1D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9F7E8E-2E09-4D85-A8EE-FB25CF4F1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EFEEF-E18A-4475-85ED-60EC09292CB4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FE2AE92-E732-4314-ACA4-4BEA9CC9B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4141C9-38C8-48A6-B3DB-FE92C08E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62DA-B8AA-43C4-BB0B-BC82842477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6793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14FFDC-B34B-4292-B10C-1CAB0E67A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B631CD6-C8FE-4AFA-A4D0-3A7F190A5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6C41-A664-4B32-B635-AB3B6B0AD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EFEEF-E18A-4475-85ED-60EC09292CB4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02D77C-D709-4319-A4CE-C6570F425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5BD2DD-4DB6-4665-BBF5-F51A4B111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62DA-B8AA-43C4-BB0B-BC82842477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3225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9B3CED-7321-42B9-B992-1A15E2AF9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6481BD9-BFB4-48D9-94CE-BCE965F208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9582307-11B2-4977-A762-B1290540FA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B5C7820-5FB3-47C7-8409-9D4B782E2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EFEEF-E18A-4475-85ED-60EC09292CB4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C7EBF25-8DD3-40F1-8044-704DA4CB4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11E78E4-44BE-40B3-852C-326C1F65C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62DA-B8AA-43C4-BB0B-BC82842477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7531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6B2DB9-E920-41FE-AEA6-C795ECD46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04D2B2D-449C-43F9-B282-4331A4BE3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5BABC58-1449-41E7-A79F-C5972B76FA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0510873-8001-4351-95D1-864CAF9FA7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E14FE03-C551-4A03-B740-99ABF3CD76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D85166C-31C6-4C10-B11A-B71F80AD2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EFEEF-E18A-4475-85ED-60EC09292CB4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E5752BE-70BE-49F7-BF3B-75C16D352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212EAEF-7651-430E-961E-614770DEC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62DA-B8AA-43C4-BB0B-BC82842477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4346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9A771C-5353-490F-88E8-3F0573872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72D63AF-9575-4D25-91BD-22F1CD442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EFEEF-E18A-4475-85ED-60EC09292CB4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426ECFD-52AC-4DF2-AF31-82875BC5F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8B7E643-35B9-44E2-BD79-D32437CBE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62DA-B8AA-43C4-BB0B-BC82842477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062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A60E953-9AC4-4153-8737-17FD3B9E1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EFEEF-E18A-4475-85ED-60EC09292CB4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E0DF9BD-C52C-46A7-946B-E9ADE18DE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9B7D346-440D-413A-861F-CEB12C246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62DA-B8AA-43C4-BB0B-BC82842477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641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515867-FECD-437B-BB91-81F86480B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D2508BB-4A29-4397-A69E-625B2EDFF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1CB1C1C-5417-4E73-8B28-80CD0EFCDB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209C190-3D58-45BE-976C-F9CB0AE24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EFEEF-E18A-4475-85ED-60EC09292CB4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F724785-A931-4009-A26B-C4A6A916A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1EAE48C-B251-4EB8-9050-8E4105E65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62DA-B8AA-43C4-BB0B-BC82842477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2610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06B8A2-D0B5-4545-8A26-9D5E40B0F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042E597-01D9-4E95-854B-E82594B9F2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E6180A5-F9FE-4FFF-9059-F2975192E3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5903FB6-A2FE-42D5-8CFA-853E1E11E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EFEEF-E18A-4475-85ED-60EC09292CB4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C3D3128-DEBF-47AC-A62E-483543D39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21A0F8F-08B1-4DFB-B4B9-34F8146F6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62DA-B8AA-43C4-BB0B-BC82842477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1824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0ED385-6339-4331-9733-2C6862EBC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A6C4634-0E5F-447D-A57F-1C774F4256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685B81A-004F-4D6A-96D1-7DA7B0DCB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EFEEF-E18A-4475-85ED-60EC09292CB4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1B97D5E-A0A9-4C0F-A6A1-678361865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6D04AD-D0CB-4ADA-A62A-1C16F323E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62DA-B8AA-43C4-BB0B-BC82842477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5030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E48D1F5-47A0-4C6E-83A7-3332B1FA84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0653C1E-3B07-48D2-9C8A-712DF9E53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333D73-7A94-446A-A124-9FA098388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EFEEF-E18A-4475-85ED-60EC09292CB4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AC537B-F5B2-45DE-B536-A37852EA5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CC71275-8D71-4029-BDB8-7CFF16B2A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62DA-B8AA-43C4-BB0B-BC82842477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1661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A87D4C7-AF1B-4D9D-8C26-37FC9A430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2CBE4F9-0F00-4D7F-8909-49C636E14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9BFB79-7D44-44F9-94E9-B48B43B71E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7EFEEF-E18A-4475-85ED-60EC09292CB4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05A699-536E-4919-B976-7305DA1F98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8650939-9E17-4E2E-BEF4-C797171245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7962DA-B8AA-43C4-BB0B-BC82842477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4532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DF5F531-3116-4425-A452-AD4BB1360E72}"/>
              </a:ext>
            </a:extLst>
          </p:cNvPr>
          <p:cNvSpPr/>
          <p:nvPr/>
        </p:nvSpPr>
        <p:spPr>
          <a:xfrm>
            <a:off x="0" y="0"/>
            <a:ext cx="12192000" cy="4067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ja-JP" sz="2000" b="1" dirty="0" err="1">
                <a:solidFill>
                  <a:schemeClr val="tx1"/>
                </a:solidFill>
              </a:rPr>
              <a:t>e</a:t>
            </a:r>
            <a:r>
              <a:rPr kumimoji="1" lang="en-US" altLang="ja-JP" sz="2000" b="1" dirty="0" err="1">
                <a:solidFill>
                  <a:schemeClr val="tx1"/>
                </a:solidFill>
              </a:rPr>
              <a:t>fw</a:t>
            </a:r>
            <a:r>
              <a:rPr kumimoji="1" lang="en-US" altLang="ja-JP" sz="2000" b="1" dirty="0">
                <a:solidFill>
                  <a:schemeClr val="tx1"/>
                </a:solidFill>
              </a:rPr>
              <a:t> framework </a:t>
            </a:r>
            <a:r>
              <a:rPr lang="en-US" altLang="ja-JP" sz="2000" b="1" dirty="0">
                <a:solidFill>
                  <a:schemeClr val="tx1"/>
                </a:solidFill>
              </a:rPr>
              <a:t>(flow)</a:t>
            </a:r>
            <a:endParaRPr kumimoji="1" lang="ja-JP" altLang="en-US" sz="2000" b="1" dirty="0">
              <a:solidFill>
                <a:schemeClr val="tx1"/>
              </a:solidFill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3AE243C0-507B-443B-9028-FFF499339647}"/>
              </a:ext>
            </a:extLst>
          </p:cNvPr>
          <p:cNvSpPr/>
          <p:nvPr/>
        </p:nvSpPr>
        <p:spPr>
          <a:xfrm>
            <a:off x="6477002" y="609600"/>
            <a:ext cx="2192020" cy="3341756"/>
          </a:xfrm>
          <a:prstGeom prst="roundRect">
            <a:avLst>
              <a:gd name="adj" fmla="val 1156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Page Event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04518F40-859D-467B-95AE-E85F21FC2889}"/>
              </a:ext>
            </a:extLst>
          </p:cNvPr>
          <p:cNvSpPr/>
          <p:nvPr/>
        </p:nvSpPr>
        <p:spPr>
          <a:xfrm>
            <a:off x="2275840" y="6014402"/>
            <a:ext cx="9767570" cy="698682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kumimoji="1" lang="en-US" altLang="ja-JP" dirty="0" err="1">
                <a:solidFill>
                  <a:schemeClr val="tx1"/>
                </a:solidFill>
              </a:rPr>
              <a:t>efw</a:t>
            </a:r>
            <a:r>
              <a:rPr kumimoji="1" lang="en-US" altLang="ja-JP" dirty="0">
                <a:solidFill>
                  <a:schemeClr val="tx1"/>
                </a:solidFill>
              </a:rPr>
              <a:t> framework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57CAB7B5-AEC5-4A14-B9D1-F7142397C380}"/>
              </a:ext>
            </a:extLst>
          </p:cNvPr>
          <p:cNvSpPr/>
          <p:nvPr/>
        </p:nvSpPr>
        <p:spPr>
          <a:xfrm>
            <a:off x="9832340" y="609600"/>
            <a:ext cx="2192020" cy="5242560"/>
          </a:xfrm>
          <a:prstGeom prst="roundRect">
            <a:avLst>
              <a:gd name="adj" fmla="val 10642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Outside </a:t>
            </a:r>
            <a:r>
              <a:rPr kumimoji="1" lang="en-US" altLang="ja-JP" dirty="0" err="1">
                <a:solidFill>
                  <a:schemeClr val="tx1"/>
                </a:solidFill>
              </a:rPr>
              <a:t>Sql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93EE4F71-828F-49B3-8402-745ADB1FDA01}"/>
              </a:ext>
            </a:extLst>
          </p:cNvPr>
          <p:cNvSpPr/>
          <p:nvPr/>
        </p:nvSpPr>
        <p:spPr>
          <a:xfrm>
            <a:off x="2275840" y="609600"/>
            <a:ext cx="2192020" cy="3341756"/>
          </a:xfrm>
          <a:prstGeom prst="roundRect">
            <a:avLst>
              <a:gd name="adj" fmla="val 1076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View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DEFA296A-086B-41AF-A4EE-F757AAF09EA7}"/>
              </a:ext>
            </a:extLst>
          </p:cNvPr>
          <p:cNvSpPr/>
          <p:nvPr/>
        </p:nvSpPr>
        <p:spPr>
          <a:xfrm>
            <a:off x="6477002" y="4113598"/>
            <a:ext cx="2192020" cy="78944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Batch Event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CA4F07E6-E5FF-49FB-A64E-F5418C17E6A9}"/>
              </a:ext>
            </a:extLst>
          </p:cNvPr>
          <p:cNvSpPr/>
          <p:nvPr/>
        </p:nvSpPr>
        <p:spPr>
          <a:xfrm>
            <a:off x="6477002" y="5062720"/>
            <a:ext cx="2192020" cy="78944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Rest API Event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7AE96E15-1B7E-4474-A8E6-36640BE62755}"/>
              </a:ext>
            </a:extLst>
          </p:cNvPr>
          <p:cNvGrpSpPr/>
          <p:nvPr/>
        </p:nvGrpSpPr>
        <p:grpSpPr>
          <a:xfrm>
            <a:off x="154498" y="620099"/>
            <a:ext cx="1193800" cy="1463567"/>
            <a:chOff x="167640" y="379844"/>
            <a:chExt cx="1193800" cy="1463567"/>
          </a:xfrm>
        </p:grpSpPr>
        <p:pic>
          <p:nvPicPr>
            <p:cNvPr id="16" name="Picture 4" descr="Google Chrome - Wikipedia">
              <a:extLst>
                <a:ext uri="{FF2B5EF4-FFF2-40B4-BE49-F238E27FC236}">
                  <a16:creationId xmlns:a16="http://schemas.microsoft.com/office/drawing/2014/main" id="{207E6172-4AFE-4846-8A8F-B6FCBA7006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026" y="1502257"/>
              <a:ext cx="328329" cy="3283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6" descr="Mozilla Firefox - Wikipedia">
              <a:extLst>
                <a:ext uri="{FF2B5EF4-FFF2-40B4-BE49-F238E27FC236}">
                  <a16:creationId xmlns:a16="http://schemas.microsoft.com/office/drawing/2014/main" id="{500E9DC5-13BA-4DD7-8168-BD3992E4E0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375" y="1502257"/>
              <a:ext cx="328329" cy="3411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0" descr="Microsoft Edge Browser - Windows に無料でダウンロードしてインストールする | Microsoft Store">
              <a:extLst>
                <a:ext uri="{FF2B5EF4-FFF2-40B4-BE49-F238E27FC236}">
                  <a16:creationId xmlns:a16="http://schemas.microsoft.com/office/drawing/2014/main" id="{23B42DCF-0648-49AC-85E5-37C55DF330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724" y="1515082"/>
              <a:ext cx="328329" cy="3283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テレビ・モニター」アイコン・イラストのフリー素材（商用可）">
              <a:extLst>
                <a:ext uri="{FF2B5EF4-FFF2-40B4-BE49-F238E27FC236}">
                  <a16:creationId xmlns:a16="http://schemas.microsoft.com/office/drawing/2014/main" id="{57BED73C-57D9-4DBF-95C9-DACD5919E3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640" y="379844"/>
              <a:ext cx="1193800" cy="1193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AutoShape 10" descr="Batファイル Icon - 無料ダウンロード (ファイルとフォルダ Icons) | IconScout">
            <a:extLst>
              <a:ext uri="{FF2B5EF4-FFF2-40B4-BE49-F238E27FC236}">
                <a16:creationId xmlns:a16="http://schemas.microsoft.com/office/drawing/2014/main" id="{DAE7480D-782F-4BD7-A0B1-966E975111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pic>
        <p:nvPicPr>
          <p:cNvPr id="29" name="Picture 6" descr="バッチファイル処理の初歩 - 生活情報オンライン">
            <a:extLst>
              <a:ext uri="{FF2B5EF4-FFF2-40B4-BE49-F238E27FC236}">
                <a16:creationId xmlns:a16="http://schemas.microsoft.com/office/drawing/2014/main" id="{36E7A5AE-889F-46F7-909D-9B3F4E2FDC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21" y="3970538"/>
            <a:ext cx="932500" cy="93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Mac】シェルスクリプトの使い方 | 林檎コンピュータ">
            <a:extLst>
              <a:ext uri="{FF2B5EF4-FFF2-40B4-BE49-F238E27FC236}">
                <a16:creationId xmlns:a16="http://schemas.microsoft.com/office/drawing/2014/main" id="{43C847A5-61BA-4AC1-8DDD-E765D55AA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221" y="4069858"/>
            <a:ext cx="903358" cy="932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15 fundamental tips on REST API design | by Williams O | Medium">
            <a:extLst>
              <a:ext uri="{FF2B5EF4-FFF2-40B4-BE49-F238E27FC236}">
                <a16:creationId xmlns:a16="http://schemas.microsoft.com/office/drawing/2014/main" id="{85E6B812-1B1D-46F5-B315-5C6766E67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83" y="5002357"/>
            <a:ext cx="1981196" cy="1125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矢印: 左 20">
            <a:extLst>
              <a:ext uri="{FF2B5EF4-FFF2-40B4-BE49-F238E27FC236}">
                <a16:creationId xmlns:a16="http://schemas.microsoft.com/office/drawing/2014/main" id="{B286E444-819A-469D-BD21-F42BC0A0AB89}"/>
              </a:ext>
            </a:extLst>
          </p:cNvPr>
          <p:cNvSpPr/>
          <p:nvPr/>
        </p:nvSpPr>
        <p:spPr>
          <a:xfrm flipH="1">
            <a:off x="4582160" y="974321"/>
            <a:ext cx="1798319" cy="406718"/>
          </a:xfrm>
          <a:prstGeom prst="leftArrow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矢印: 左 37">
            <a:extLst>
              <a:ext uri="{FF2B5EF4-FFF2-40B4-BE49-F238E27FC236}">
                <a16:creationId xmlns:a16="http://schemas.microsoft.com/office/drawing/2014/main" id="{09475302-03BD-4EC7-8413-C6CB37050105}"/>
              </a:ext>
            </a:extLst>
          </p:cNvPr>
          <p:cNvSpPr/>
          <p:nvPr/>
        </p:nvSpPr>
        <p:spPr>
          <a:xfrm>
            <a:off x="4574551" y="1357736"/>
            <a:ext cx="1798319" cy="406718"/>
          </a:xfrm>
          <a:prstGeom prst="leftArrow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矢印: 左 38">
            <a:extLst>
              <a:ext uri="{FF2B5EF4-FFF2-40B4-BE49-F238E27FC236}">
                <a16:creationId xmlns:a16="http://schemas.microsoft.com/office/drawing/2014/main" id="{AB172D22-310C-4996-9933-A3841BDA052A}"/>
              </a:ext>
            </a:extLst>
          </p:cNvPr>
          <p:cNvSpPr/>
          <p:nvPr/>
        </p:nvSpPr>
        <p:spPr>
          <a:xfrm flipH="1">
            <a:off x="4571992" y="2628280"/>
            <a:ext cx="1798319" cy="406718"/>
          </a:xfrm>
          <a:prstGeom prst="leftArrow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矢印: 左 39">
            <a:extLst>
              <a:ext uri="{FF2B5EF4-FFF2-40B4-BE49-F238E27FC236}">
                <a16:creationId xmlns:a16="http://schemas.microsoft.com/office/drawing/2014/main" id="{9F54466B-1CAF-4B17-A2FF-5D0B990017D7}"/>
              </a:ext>
            </a:extLst>
          </p:cNvPr>
          <p:cNvSpPr/>
          <p:nvPr/>
        </p:nvSpPr>
        <p:spPr>
          <a:xfrm>
            <a:off x="4564383" y="3011695"/>
            <a:ext cx="1798319" cy="406718"/>
          </a:xfrm>
          <a:prstGeom prst="leftArrow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矢印: 左 40">
            <a:extLst>
              <a:ext uri="{FF2B5EF4-FFF2-40B4-BE49-F238E27FC236}">
                <a16:creationId xmlns:a16="http://schemas.microsoft.com/office/drawing/2014/main" id="{B4375830-5005-45F8-958F-3842AE61707E}"/>
              </a:ext>
            </a:extLst>
          </p:cNvPr>
          <p:cNvSpPr/>
          <p:nvPr/>
        </p:nvSpPr>
        <p:spPr>
          <a:xfrm flipH="1">
            <a:off x="8747755" y="2636361"/>
            <a:ext cx="1013461" cy="406718"/>
          </a:xfrm>
          <a:prstGeom prst="leftArrow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矢印: 左 41">
            <a:extLst>
              <a:ext uri="{FF2B5EF4-FFF2-40B4-BE49-F238E27FC236}">
                <a16:creationId xmlns:a16="http://schemas.microsoft.com/office/drawing/2014/main" id="{E26D708D-77CD-49C5-B7D0-33369D56EDE6}"/>
              </a:ext>
            </a:extLst>
          </p:cNvPr>
          <p:cNvSpPr/>
          <p:nvPr/>
        </p:nvSpPr>
        <p:spPr>
          <a:xfrm>
            <a:off x="8740147" y="3019776"/>
            <a:ext cx="1013461" cy="406718"/>
          </a:xfrm>
          <a:prstGeom prst="leftArrow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矢印: 左 42">
            <a:extLst>
              <a:ext uri="{FF2B5EF4-FFF2-40B4-BE49-F238E27FC236}">
                <a16:creationId xmlns:a16="http://schemas.microsoft.com/office/drawing/2014/main" id="{ADCBA204-653E-4879-B47A-3F7C4BEFB80E}"/>
              </a:ext>
            </a:extLst>
          </p:cNvPr>
          <p:cNvSpPr/>
          <p:nvPr/>
        </p:nvSpPr>
        <p:spPr>
          <a:xfrm flipH="1">
            <a:off x="8740146" y="4139362"/>
            <a:ext cx="1013461" cy="406718"/>
          </a:xfrm>
          <a:prstGeom prst="leftArrow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矢印: 左 43">
            <a:extLst>
              <a:ext uri="{FF2B5EF4-FFF2-40B4-BE49-F238E27FC236}">
                <a16:creationId xmlns:a16="http://schemas.microsoft.com/office/drawing/2014/main" id="{751D8C5B-0D6D-452C-8C23-3C0B89C06494}"/>
              </a:ext>
            </a:extLst>
          </p:cNvPr>
          <p:cNvSpPr/>
          <p:nvPr/>
        </p:nvSpPr>
        <p:spPr>
          <a:xfrm>
            <a:off x="8732538" y="4522777"/>
            <a:ext cx="1013461" cy="406718"/>
          </a:xfrm>
          <a:prstGeom prst="leftArrow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矢印: 左 44">
            <a:extLst>
              <a:ext uri="{FF2B5EF4-FFF2-40B4-BE49-F238E27FC236}">
                <a16:creationId xmlns:a16="http://schemas.microsoft.com/office/drawing/2014/main" id="{97AB1E2B-7C8C-45E9-A048-F8B0BB1CC82A}"/>
              </a:ext>
            </a:extLst>
          </p:cNvPr>
          <p:cNvSpPr/>
          <p:nvPr/>
        </p:nvSpPr>
        <p:spPr>
          <a:xfrm flipH="1">
            <a:off x="8770633" y="5040244"/>
            <a:ext cx="1013461" cy="406718"/>
          </a:xfrm>
          <a:prstGeom prst="leftArrow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矢印: 左 45">
            <a:extLst>
              <a:ext uri="{FF2B5EF4-FFF2-40B4-BE49-F238E27FC236}">
                <a16:creationId xmlns:a16="http://schemas.microsoft.com/office/drawing/2014/main" id="{BAFFE881-2FFE-47DE-A58C-FC6CB9402FE1}"/>
              </a:ext>
            </a:extLst>
          </p:cNvPr>
          <p:cNvSpPr/>
          <p:nvPr/>
        </p:nvSpPr>
        <p:spPr>
          <a:xfrm>
            <a:off x="8763025" y="5423659"/>
            <a:ext cx="1013461" cy="406718"/>
          </a:xfrm>
          <a:prstGeom prst="leftArrow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矢印: 左 46">
            <a:extLst>
              <a:ext uri="{FF2B5EF4-FFF2-40B4-BE49-F238E27FC236}">
                <a16:creationId xmlns:a16="http://schemas.microsoft.com/office/drawing/2014/main" id="{A7316D60-65A6-437D-8D14-EF1C5999E180}"/>
              </a:ext>
            </a:extLst>
          </p:cNvPr>
          <p:cNvSpPr/>
          <p:nvPr/>
        </p:nvSpPr>
        <p:spPr>
          <a:xfrm flipH="1">
            <a:off x="1419422" y="907422"/>
            <a:ext cx="738314" cy="406718"/>
          </a:xfrm>
          <a:prstGeom prst="leftArrow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矢印: 左 47">
            <a:extLst>
              <a:ext uri="{FF2B5EF4-FFF2-40B4-BE49-F238E27FC236}">
                <a16:creationId xmlns:a16="http://schemas.microsoft.com/office/drawing/2014/main" id="{2CFF742B-60F6-4BDD-834F-B9B7CE2F6F9A}"/>
              </a:ext>
            </a:extLst>
          </p:cNvPr>
          <p:cNvSpPr/>
          <p:nvPr/>
        </p:nvSpPr>
        <p:spPr>
          <a:xfrm>
            <a:off x="1411815" y="1290837"/>
            <a:ext cx="738314" cy="406718"/>
          </a:xfrm>
          <a:prstGeom prst="leftArrow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矢印: 左 48">
            <a:extLst>
              <a:ext uri="{FF2B5EF4-FFF2-40B4-BE49-F238E27FC236}">
                <a16:creationId xmlns:a16="http://schemas.microsoft.com/office/drawing/2014/main" id="{5EC79E66-DE2D-4B62-BAC2-B2B61F47F64E}"/>
              </a:ext>
            </a:extLst>
          </p:cNvPr>
          <p:cNvSpPr/>
          <p:nvPr/>
        </p:nvSpPr>
        <p:spPr>
          <a:xfrm flipH="1">
            <a:off x="2398612" y="4108598"/>
            <a:ext cx="3901440" cy="406718"/>
          </a:xfrm>
          <a:prstGeom prst="leftArrow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矢印: 左 49">
            <a:extLst>
              <a:ext uri="{FF2B5EF4-FFF2-40B4-BE49-F238E27FC236}">
                <a16:creationId xmlns:a16="http://schemas.microsoft.com/office/drawing/2014/main" id="{84E69829-318F-48C4-B8AF-5A3101A28929}"/>
              </a:ext>
            </a:extLst>
          </p:cNvPr>
          <p:cNvSpPr/>
          <p:nvPr/>
        </p:nvSpPr>
        <p:spPr>
          <a:xfrm>
            <a:off x="2391005" y="4492013"/>
            <a:ext cx="3901440" cy="406718"/>
          </a:xfrm>
          <a:prstGeom prst="leftArrow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矢印: 左 50">
            <a:extLst>
              <a:ext uri="{FF2B5EF4-FFF2-40B4-BE49-F238E27FC236}">
                <a16:creationId xmlns:a16="http://schemas.microsoft.com/office/drawing/2014/main" id="{7271FD4E-F889-443E-909F-391DC423C7EE}"/>
              </a:ext>
            </a:extLst>
          </p:cNvPr>
          <p:cNvSpPr/>
          <p:nvPr/>
        </p:nvSpPr>
        <p:spPr>
          <a:xfrm flipH="1">
            <a:off x="2396003" y="5046215"/>
            <a:ext cx="3901440" cy="406718"/>
          </a:xfrm>
          <a:prstGeom prst="leftArrow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矢印: 左 51">
            <a:extLst>
              <a:ext uri="{FF2B5EF4-FFF2-40B4-BE49-F238E27FC236}">
                <a16:creationId xmlns:a16="http://schemas.microsoft.com/office/drawing/2014/main" id="{8B9EA01B-A7E3-4151-9C77-D9EFD5F276FD}"/>
              </a:ext>
            </a:extLst>
          </p:cNvPr>
          <p:cNvSpPr/>
          <p:nvPr/>
        </p:nvSpPr>
        <p:spPr>
          <a:xfrm>
            <a:off x="2388396" y="5429630"/>
            <a:ext cx="3901440" cy="406718"/>
          </a:xfrm>
          <a:prstGeom prst="leftArrow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0E2602AF-789E-4C5B-BBFE-8C2DF5AAED1B}"/>
              </a:ext>
            </a:extLst>
          </p:cNvPr>
          <p:cNvSpPr/>
          <p:nvPr/>
        </p:nvSpPr>
        <p:spPr>
          <a:xfrm>
            <a:off x="3243140" y="947375"/>
            <a:ext cx="1287167" cy="43366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>
                <a:solidFill>
                  <a:schemeClr val="tx1"/>
                </a:solidFill>
              </a:rPr>
              <a:t>eventId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6D60E2CB-32DA-4F90-893D-5144D58875C0}"/>
              </a:ext>
            </a:extLst>
          </p:cNvPr>
          <p:cNvSpPr/>
          <p:nvPr/>
        </p:nvSpPr>
        <p:spPr>
          <a:xfrm>
            <a:off x="3243140" y="2601334"/>
            <a:ext cx="1287167" cy="43366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params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EE167227-DB35-4A70-93D5-E37D00A0670F}"/>
              </a:ext>
            </a:extLst>
          </p:cNvPr>
          <p:cNvSpPr/>
          <p:nvPr/>
        </p:nvSpPr>
        <p:spPr>
          <a:xfrm>
            <a:off x="6451602" y="1376277"/>
            <a:ext cx="1906372" cy="43366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paramsFormat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7701B937-FE94-44CC-92E1-FB06E6555556}"/>
              </a:ext>
            </a:extLst>
          </p:cNvPr>
          <p:cNvSpPr/>
          <p:nvPr/>
        </p:nvSpPr>
        <p:spPr>
          <a:xfrm>
            <a:off x="7430101" y="2636361"/>
            <a:ext cx="1287167" cy="43366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params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3" name="四角形: 角を丸くする 52">
            <a:extLst>
              <a:ext uri="{FF2B5EF4-FFF2-40B4-BE49-F238E27FC236}">
                <a16:creationId xmlns:a16="http://schemas.microsoft.com/office/drawing/2014/main" id="{73420F5D-5788-45C4-B991-A048C56F857E}"/>
              </a:ext>
            </a:extLst>
          </p:cNvPr>
          <p:cNvSpPr/>
          <p:nvPr/>
        </p:nvSpPr>
        <p:spPr>
          <a:xfrm>
            <a:off x="6428756" y="3043079"/>
            <a:ext cx="1287167" cy="43366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result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4" name="四角形: 角を丸くする 53">
            <a:extLst>
              <a:ext uri="{FF2B5EF4-FFF2-40B4-BE49-F238E27FC236}">
                <a16:creationId xmlns:a16="http://schemas.microsoft.com/office/drawing/2014/main" id="{87CBC3CC-07F2-47F5-A6A3-AAFE85C52BFE}"/>
              </a:ext>
            </a:extLst>
          </p:cNvPr>
          <p:cNvSpPr/>
          <p:nvPr/>
        </p:nvSpPr>
        <p:spPr>
          <a:xfrm>
            <a:off x="9812002" y="3019776"/>
            <a:ext cx="1287167" cy="43366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record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pic>
        <p:nvPicPr>
          <p:cNvPr id="1028" name="Picture 4" descr="炎のアイコン">
            <a:extLst>
              <a:ext uri="{FF2B5EF4-FFF2-40B4-BE49-F238E27FC236}">
                <a16:creationId xmlns:a16="http://schemas.microsoft.com/office/drawing/2014/main" id="{3D8ED6BB-0AE6-468A-AE08-8EBDD58C6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6231" y="1084418"/>
            <a:ext cx="259693" cy="320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太陽のシンプルイラスト ＜無料＞ | かわいいフリー素材 イラストK">
            <a:extLst>
              <a:ext uri="{FF2B5EF4-FFF2-40B4-BE49-F238E27FC236}">
                <a16:creationId xmlns:a16="http://schemas.microsoft.com/office/drawing/2014/main" id="{6F65F073-C65E-4A24-A08C-CF3B1260EB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5725" y="2754758"/>
            <a:ext cx="698682" cy="698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Download Design Ppt Data Gear Icon Download HQ PNG ICON free | FreePNGImg">
            <a:extLst>
              <a:ext uri="{FF2B5EF4-FFF2-40B4-BE49-F238E27FC236}">
                <a16:creationId xmlns:a16="http://schemas.microsoft.com/office/drawing/2014/main" id="{3BE89781-085B-41CF-BB0E-D37EAD338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2" y="1942508"/>
            <a:ext cx="1330652" cy="1039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B833709-A0FE-4A45-9C51-2E3D3509D823}"/>
              </a:ext>
            </a:extLst>
          </p:cNvPr>
          <p:cNvSpPr/>
          <p:nvPr/>
        </p:nvSpPr>
        <p:spPr>
          <a:xfrm>
            <a:off x="4696461" y="790133"/>
            <a:ext cx="1614385" cy="2859000"/>
          </a:xfrm>
          <a:prstGeom prst="rect">
            <a:avLst/>
          </a:prstGeom>
          <a:solidFill>
            <a:schemeClr val="tx1">
              <a:lumMod val="50000"/>
              <a:lumOff val="50000"/>
              <a:alpha val="50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F7180093-AAE6-421D-B40B-A26833755050}"/>
              </a:ext>
            </a:extLst>
          </p:cNvPr>
          <p:cNvSpPr/>
          <p:nvPr/>
        </p:nvSpPr>
        <p:spPr>
          <a:xfrm>
            <a:off x="2430784" y="1480318"/>
            <a:ext cx="2265678" cy="2168815"/>
          </a:xfrm>
          <a:prstGeom prst="rect">
            <a:avLst/>
          </a:prstGeom>
          <a:solidFill>
            <a:schemeClr val="tx1">
              <a:lumMod val="50000"/>
              <a:lumOff val="50000"/>
              <a:alpha val="50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A49BE33-A872-4BDE-8101-CE6662783294}"/>
              </a:ext>
            </a:extLst>
          </p:cNvPr>
          <p:cNvSpPr txBox="1"/>
          <p:nvPr/>
        </p:nvSpPr>
        <p:spPr>
          <a:xfrm>
            <a:off x="8199124" y="3132441"/>
            <a:ext cx="541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…</a:t>
            </a:r>
            <a:endParaRPr kumimoji="1" lang="ja-JP" altLang="en-US" dirty="0"/>
          </a:p>
        </p:txBody>
      </p:sp>
      <p:sp>
        <p:nvSpPr>
          <p:cNvPr id="56" name="矢印: 左 55">
            <a:extLst>
              <a:ext uri="{FF2B5EF4-FFF2-40B4-BE49-F238E27FC236}">
                <a16:creationId xmlns:a16="http://schemas.microsoft.com/office/drawing/2014/main" id="{B9344E8C-8A07-46B2-9BCC-1D546027C35D}"/>
              </a:ext>
            </a:extLst>
          </p:cNvPr>
          <p:cNvSpPr/>
          <p:nvPr/>
        </p:nvSpPr>
        <p:spPr>
          <a:xfrm>
            <a:off x="7781977" y="3103972"/>
            <a:ext cx="391762" cy="406718"/>
          </a:xfrm>
          <a:prstGeom prst="leftArrow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5836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DF5F531-3116-4425-A452-AD4BB1360E72}"/>
              </a:ext>
            </a:extLst>
          </p:cNvPr>
          <p:cNvSpPr/>
          <p:nvPr/>
        </p:nvSpPr>
        <p:spPr>
          <a:xfrm>
            <a:off x="-964" y="0"/>
            <a:ext cx="12192000" cy="411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ja-JP" sz="2000" b="1" dirty="0" err="1">
                <a:solidFill>
                  <a:schemeClr val="tx1"/>
                </a:solidFill>
              </a:rPr>
              <a:t>e</a:t>
            </a:r>
            <a:r>
              <a:rPr kumimoji="1" lang="en-US" altLang="ja-JP" sz="2000" b="1" dirty="0" err="1">
                <a:solidFill>
                  <a:schemeClr val="tx1"/>
                </a:solidFill>
              </a:rPr>
              <a:t>fw</a:t>
            </a:r>
            <a:r>
              <a:rPr kumimoji="1" lang="en-US" altLang="ja-JP" sz="2000" b="1" dirty="0">
                <a:solidFill>
                  <a:schemeClr val="tx1"/>
                </a:solidFill>
              </a:rPr>
              <a:t> framework (client)</a:t>
            </a:r>
            <a:endParaRPr kumimoji="1" lang="ja-JP" altLang="en-US" sz="2000" b="1" dirty="0">
              <a:solidFill>
                <a:schemeClr val="tx1"/>
              </a:solidFill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3AE243C0-507B-443B-9028-FFF499339647}"/>
              </a:ext>
            </a:extLst>
          </p:cNvPr>
          <p:cNvSpPr/>
          <p:nvPr/>
        </p:nvSpPr>
        <p:spPr>
          <a:xfrm>
            <a:off x="167640" y="487680"/>
            <a:ext cx="11856720" cy="115824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Tags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04518F40-859D-467B-95AE-E85F21FC2889}"/>
              </a:ext>
            </a:extLst>
          </p:cNvPr>
          <p:cNvSpPr/>
          <p:nvPr/>
        </p:nvSpPr>
        <p:spPr>
          <a:xfrm>
            <a:off x="181008" y="1729740"/>
            <a:ext cx="3956879" cy="115824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ja-JP" dirty="0">
                <a:solidFill>
                  <a:schemeClr val="tx1"/>
                </a:solidFill>
              </a:rPr>
              <a:t>Attributes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6270CBF4-E627-4519-95D7-E3E902C4B4EE}"/>
              </a:ext>
            </a:extLst>
          </p:cNvPr>
          <p:cNvSpPr/>
          <p:nvPr/>
        </p:nvSpPr>
        <p:spPr>
          <a:xfrm>
            <a:off x="167640" y="2956560"/>
            <a:ext cx="11856720" cy="112776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Js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2F693CEC-91F9-4DDA-9C0C-B03CC9BC54FE}"/>
              </a:ext>
            </a:extLst>
          </p:cNvPr>
          <p:cNvSpPr/>
          <p:nvPr/>
        </p:nvSpPr>
        <p:spPr>
          <a:xfrm>
            <a:off x="167640" y="4160520"/>
            <a:ext cx="9036356" cy="112776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UI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pic>
        <p:nvPicPr>
          <p:cNvPr id="1026" name="Picture 2" descr="HTML5 - Wikipedia">
            <a:extLst>
              <a:ext uri="{FF2B5EF4-FFF2-40B4-BE49-F238E27FC236}">
                <a16:creationId xmlns:a16="http://schemas.microsoft.com/office/drawing/2014/main" id="{9EEC55CC-A600-437E-A81C-881DBD0B3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" y="5506720"/>
            <a:ext cx="1132840" cy="1132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oogle Chrome - Wikipedia">
            <a:extLst>
              <a:ext uri="{FF2B5EF4-FFF2-40B4-BE49-F238E27FC236}">
                <a16:creationId xmlns:a16="http://schemas.microsoft.com/office/drawing/2014/main" id="{9D27DDC6-A2E3-4877-BF13-6E16BDA71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9991" y="5699760"/>
            <a:ext cx="7874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ozilla Firefox - Wikipedia">
            <a:extLst>
              <a:ext uri="{FF2B5EF4-FFF2-40B4-BE49-F238E27FC236}">
                <a16:creationId xmlns:a16="http://schemas.microsoft.com/office/drawing/2014/main" id="{775B5A95-4A87-40DA-B06A-956FDA8FE0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289" y="5663089"/>
            <a:ext cx="789271" cy="820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Microsoft Edge Browser - Windows に無料でダウンロードしてインストールする | Microsoft Store">
            <a:extLst>
              <a:ext uri="{FF2B5EF4-FFF2-40B4-BE49-F238E27FC236}">
                <a16:creationId xmlns:a16="http://schemas.microsoft.com/office/drawing/2014/main" id="{BCF60EFE-AFE0-4700-9187-CCE7CFCCA9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4458" y="5699760"/>
            <a:ext cx="840740" cy="840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211A3137-8A2F-4259-A9C5-EB4FC1B9EE60}"/>
              </a:ext>
            </a:extLst>
          </p:cNvPr>
          <p:cNvSpPr/>
          <p:nvPr/>
        </p:nvSpPr>
        <p:spPr>
          <a:xfrm>
            <a:off x="1645489" y="645160"/>
            <a:ext cx="1120809" cy="8432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Client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277C416B-F86C-4B27-BA49-F4B4719F973B}"/>
              </a:ext>
            </a:extLst>
          </p:cNvPr>
          <p:cNvSpPr/>
          <p:nvPr/>
        </p:nvSpPr>
        <p:spPr>
          <a:xfrm>
            <a:off x="2897902" y="645160"/>
            <a:ext cx="1120809" cy="8432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Part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04C4B690-28B8-46C9-BE66-DC7810A97071}"/>
              </a:ext>
            </a:extLst>
          </p:cNvPr>
          <p:cNvSpPr/>
          <p:nvPr/>
        </p:nvSpPr>
        <p:spPr>
          <a:xfrm>
            <a:off x="4137887" y="645160"/>
            <a:ext cx="1120809" cy="8432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Attr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215417FD-D0A5-4DF5-B9B6-2ACC8BAEF17C}"/>
              </a:ext>
            </a:extLst>
          </p:cNvPr>
          <p:cNvSpPr/>
          <p:nvPr/>
        </p:nvSpPr>
        <p:spPr>
          <a:xfrm>
            <a:off x="5364956" y="660400"/>
            <a:ext cx="1120809" cy="8432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Msg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01554BE0-394E-4A91-A12C-1D676789383D}"/>
              </a:ext>
            </a:extLst>
          </p:cNvPr>
          <p:cNvSpPr/>
          <p:nvPr/>
        </p:nvSpPr>
        <p:spPr>
          <a:xfrm>
            <a:off x="6604941" y="660400"/>
            <a:ext cx="1120809" cy="8432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Prop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ABB30DA2-B0E9-4C01-850A-996DAAF39CD6}"/>
              </a:ext>
            </a:extLst>
          </p:cNvPr>
          <p:cNvSpPr/>
          <p:nvPr/>
        </p:nvSpPr>
        <p:spPr>
          <a:xfrm>
            <a:off x="7829471" y="660400"/>
            <a:ext cx="1374525" cy="8432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elFinder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C8C684C1-AB51-4EB3-AE99-C5A9EA006293}"/>
              </a:ext>
            </a:extLst>
          </p:cNvPr>
          <p:cNvSpPr/>
          <p:nvPr/>
        </p:nvSpPr>
        <p:spPr>
          <a:xfrm>
            <a:off x="9323172" y="647700"/>
            <a:ext cx="1120809" cy="8432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Chart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99E4D345-F319-4F99-8331-D98E1B633231}"/>
              </a:ext>
            </a:extLst>
          </p:cNvPr>
          <p:cNvSpPr/>
          <p:nvPr/>
        </p:nvSpPr>
        <p:spPr>
          <a:xfrm>
            <a:off x="10563157" y="645160"/>
            <a:ext cx="1273243" cy="8432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Barcode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26C898FE-69F0-4294-B203-BABA26F72B76}"/>
              </a:ext>
            </a:extLst>
          </p:cNvPr>
          <p:cNvSpPr/>
          <p:nvPr/>
        </p:nvSpPr>
        <p:spPr>
          <a:xfrm>
            <a:off x="5943600" y="1722120"/>
            <a:ext cx="6080760" cy="115824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Dialogs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B127EBF3-B9A0-402F-853C-93D3003F7167}"/>
              </a:ext>
            </a:extLst>
          </p:cNvPr>
          <p:cNvSpPr/>
          <p:nvPr/>
        </p:nvSpPr>
        <p:spPr>
          <a:xfrm>
            <a:off x="10563157" y="1887220"/>
            <a:ext cx="1273244" cy="8432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progress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78448809-B50A-439D-B69F-A30BD2A3E922}"/>
              </a:ext>
            </a:extLst>
          </p:cNvPr>
          <p:cNvSpPr/>
          <p:nvPr/>
        </p:nvSpPr>
        <p:spPr>
          <a:xfrm>
            <a:off x="7005750" y="1885981"/>
            <a:ext cx="1031825" cy="8432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alert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09961D6E-0CDE-47B6-9E33-B2AE6AB7EA28}"/>
              </a:ext>
            </a:extLst>
          </p:cNvPr>
          <p:cNvSpPr/>
          <p:nvPr/>
        </p:nvSpPr>
        <p:spPr>
          <a:xfrm>
            <a:off x="2897902" y="1871980"/>
            <a:ext cx="1120809" cy="8432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700" dirty="0">
                <a:solidFill>
                  <a:schemeClr val="tx1"/>
                </a:solidFill>
              </a:rPr>
              <a:t>data-shortcut</a:t>
            </a:r>
            <a:endParaRPr kumimoji="1" lang="ja-JP" altLang="en-US" sz="1700" dirty="0">
              <a:solidFill>
                <a:schemeClr val="tx1"/>
              </a:solidFill>
            </a:endParaRP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1C02B6FC-D731-4E99-8323-989EA2DAA038}"/>
              </a:ext>
            </a:extLst>
          </p:cNvPr>
          <p:cNvSpPr/>
          <p:nvPr/>
        </p:nvSpPr>
        <p:spPr>
          <a:xfrm>
            <a:off x="1645489" y="1871980"/>
            <a:ext cx="1120810" cy="8432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data-format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4657ACA2-EFA4-441B-A9CD-95B178BCE8D1}"/>
              </a:ext>
            </a:extLst>
          </p:cNvPr>
          <p:cNvSpPr/>
          <p:nvPr/>
        </p:nvSpPr>
        <p:spPr>
          <a:xfrm>
            <a:off x="10430886" y="3098800"/>
            <a:ext cx="1392419" cy="40243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Js.cookie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01C40116-CAF0-4710-B398-C07749376B56}"/>
              </a:ext>
            </a:extLst>
          </p:cNvPr>
          <p:cNvSpPr/>
          <p:nvPr/>
        </p:nvSpPr>
        <p:spPr>
          <a:xfrm>
            <a:off x="2369579" y="3676810"/>
            <a:ext cx="1625520" cy="2601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dirty="0">
                <a:solidFill>
                  <a:schemeClr val="tx1"/>
                </a:solidFill>
              </a:rPr>
              <a:t>.messages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2E42A6EA-69F2-4D11-851B-8A560AE57123}"/>
              </a:ext>
            </a:extLst>
          </p:cNvPr>
          <p:cNvSpPr/>
          <p:nvPr/>
        </p:nvSpPr>
        <p:spPr>
          <a:xfrm>
            <a:off x="2369579" y="3385392"/>
            <a:ext cx="1625520" cy="25523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dirty="0">
                <a:solidFill>
                  <a:schemeClr val="tx1"/>
                </a:solidFill>
              </a:rPr>
              <a:t>.format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A0AD0F57-BC06-4E34-BCC2-205A44AFE212}"/>
              </a:ext>
            </a:extLst>
          </p:cNvPr>
          <p:cNvSpPr/>
          <p:nvPr/>
        </p:nvSpPr>
        <p:spPr>
          <a:xfrm>
            <a:off x="657231" y="3093720"/>
            <a:ext cx="1625520" cy="8432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efw.client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3E785B69-7973-4449-8B0B-0C5794961698}"/>
              </a:ext>
            </a:extLst>
          </p:cNvPr>
          <p:cNvSpPr/>
          <p:nvPr/>
        </p:nvSpPr>
        <p:spPr>
          <a:xfrm>
            <a:off x="2369579" y="3111501"/>
            <a:ext cx="1625520" cy="23770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dirty="0">
                <a:solidFill>
                  <a:schemeClr val="tx1"/>
                </a:solidFill>
              </a:rPr>
              <a:t>.</a:t>
            </a:r>
            <a:r>
              <a:rPr lang="en-US" altLang="ja-JP" dirty="0" err="1">
                <a:solidFill>
                  <a:schemeClr val="tx1"/>
                </a:solidFill>
              </a:rPr>
              <a:t>nopromise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9A4CD131-EB64-47CC-B623-0A825186DD86}"/>
              </a:ext>
            </a:extLst>
          </p:cNvPr>
          <p:cNvSpPr/>
          <p:nvPr/>
        </p:nvSpPr>
        <p:spPr>
          <a:xfrm>
            <a:off x="4125915" y="3111500"/>
            <a:ext cx="1392419" cy="8432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efw.chart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36B09CD7-012E-4AA8-9937-CE2266F9E204}"/>
              </a:ext>
            </a:extLst>
          </p:cNvPr>
          <p:cNvSpPr/>
          <p:nvPr/>
        </p:nvSpPr>
        <p:spPr>
          <a:xfrm>
            <a:off x="5612421" y="3111500"/>
            <a:ext cx="1540219" cy="38973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dirty="0">
                <a:solidFill>
                  <a:schemeClr val="tx1"/>
                </a:solidFill>
              </a:rPr>
              <a:t>.</a:t>
            </a:r>
            <a:r>
              <a:rPr lang="en-US" altLang="ja-JP" dirty="0" err="1">
                <a:solidFill>
                  <a:schemeClr val="tx1"/>
                </a:solidFill>
              </a:rPr>
              <a:t>chartjs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94A551B4-7D7C-4706-B40B-D2ACDF59C4AE}"/>
              </a:ext>
            </a:extLst>
          </p:cNvPr>
          <p:cNvSpPr/>
          <p:nvPr/>
        </p:nvSpPr>
        <p:spPr>
          <a:xfrm>
            <a:off x="5612420" y="3565049"/>
            <a:ext cx="1540220" cy="38973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dirty="0">
                <a:solidFill>
                  <a:schemeClr val="tx1"/>
                </a:solidFill>
              </a:rPr>
              <a:t>.</a:t>
            </a:r>
            <a:r>
              <a:rPr lang="en-US" altLang="ja-JP" dirty="0" err="1">
                <a:solidFill>
                  <a:schemeClr val="tx1"/>
                </a:solidFill>
              </a:rPr>
              <a:t>googlechart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9731D4B1-F928-4EA2-A64E-4A3953085ED9}"/>
              </a:ext>
            </a:extLst>
          </p:cNvPr>
          <p:cNvSpPr/>
          <p:nvPr/>
        </p:nvSpPr>
        <p:spPr>
          <a:xfrm>
            <a:off x="7246726" y="3098800"/>
            <a:ext cx="1392419" cy="8432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efw.dialog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B077813C-3611-480F-9530-0C35A7FA4771}"/>
              </a:ext>
            </a:extLst>
          </p:cNvPr>
          <p:cNvSpPr/>
          <p:nvPr/>
        </p:nvSpPr>
        <p:spPr>
          <a:xfrm>
            <a:off x="10430886" y="3565048"/>
            <a:ext cx="1405514" cy="37195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dirty="0" err="1">
                <a:solidFill>
                  <a:schemeClr val="tx1"/>
                </a:solidFill>
              </a:rPr>
              <a:t>easytimer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CBC9D707-58F2-41AA-ABF2-D8C5E6521817}"/>
              </a:ext>
            </a:extLst>
          </p:cNvPr>
          <p:cNvSpPr/>
          <p:nvPr/>
        </p:nvSpPr>
        <p:spPr>
          <a:xfrm>
            <a:off x="8725214" y="3565048"/>
            <a:ext cx="1625520" cy="37195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dirty="0">
                <a:solidFill>
                  <a:schemeClr val="tx1"/>
                </a:solidFill>
              </a:rPr>
              <a:t>.bootstrap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4" name="四角形: 角を丸くする 43">
            <a:extLst>
              <a:ext uri="{FF2B5EF4-FFF2-40B4-BE49-F238E27FC236}">
                <a16:creationId xmlns:a16="http://schemas.microsoft.com/office/drawing/2014/main" id="{5A032578-B4B7-4476-B260-47305D35EDE0}"/>
              </a:ext>
            </a:extLst>
          </p:cNvPr>
          <p:cNvSpPr/>
          <p:nvPr/>
        </p:nvSpPr>
        <p:spPr>
          <a:xfrm>
            <a:off x="8725214" y="3093121"/>
            <a:ext cx="1625520" cy="40243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dirty="0">
                <a:solidFill>
                  <a:schemeClr val="tx1"/>
                </a:solidFill>
              </a:rPr>
              <a:t>.</a:t>
            </a:r>
            <a:r>
              <a:rPr lang="en-US" altLang="ja-JP" dirty="0" err="1">
                <a:solidFill>
                  <a:schemeClr val="tx1"/>
                </a:solidFill>
              </a:rPr>
              <a:t>jquery-ui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6795B4A4-F3B7-483D-9A9B-A89303E42DFE}"/>
              </a:ext>
            </a:extLst>
          </p:cNvPr>
          <p:cNvSpPr/>
          <p:nvPr/>
        </p:nvSpPr>
        <p:spPr>
          <a:xfrm>
            <a:off x="9323172" y="4148138"/>
            <a:ext cx="2701188" cy="112776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ja-JP" dirty="0">
                <a:solidFill>
                  <a:schemeClr val="tx1"/>
                </a:solidFill>
              </a:rPr>
              <a:t>COM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6" name="四角形: 角を丸くする 45">
            <a:extLst>
              <a:ext uri="{FF2B5EF4-FFF2-40B4-BE49-F238E27FC236}">
                <a16:creationId xmlns:a16="http://schemas.microsoft.com/office/drawing/2014/main" id="{B203431B-8425-47AA-9D07-42D467F09A50}"/>
              </a:ext>
            </a:extLst>
          </p:cNvPr>
          <p:cNvSpPr/>
          <p:nvPr/>
        </p:nvSpPr>
        <p:spPr>
          <a:xfrm>
            <a:off x="10430885" y="4276425"/>
            <a:ext cx="1392419" cy="8432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JQuery</a:t>
            </a:r>
            <a:r>
              <a:rPr lang="en-US" altLang="ja-JP" dirty="0">
                <a:solidFill>
                  <a:schemeClr val="tx1"/>
                </a:solidFill>
              </a:rPr>
              <a:t> Ajax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3" name="四角形: 角を丸くする 52">
            <a:extLst>
              <a:ext uri="{FF2B5EF4-FFF2-40B4-BE49-F238E27FC236}">
                <a16:creationId xmlns:a16="http://schemas.microsoft.com/office/drawing/2014/main" id="{872ED9DD-2324-48EE-9A2C-59A81EBF3587}"/>
              </a:ext>
            </a:extLst>
          </p:cNvPr>
          <p:cNvSpPr/>
          <p:nvPr/>
        </p:nvSpPr>
        <p:spPr>
          <a:xfrm>
            <a:off x="1038821" y="4290378"/>
            <a:ext cx="1392419" cy="8432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JQuery</a:t>
            </a:r>
            <a:r>
              <a:rPr lang="en-US" altLang="ja-JP" dirty="0">
                <a:solidFill>
                  <a:schemeClr val="tx1"/>
                </a:solidFill>
              </a:rPr>
              <a:t> UI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4" name="四角形: 角を丸くする 53">
            <a:extLst>
              <a:ext uri="{FF2B5EF4-FFF2-40B4-BE49-F238E27FC236}">
                <a16:creationId xmlns:a16="http://schemas.microsoft.com/office/drawing/2014/main" id="{7B8AB9A1-453C-4C1E-97CB-E05DA28BA5C1}"/>
              </a:ext>
            </a:extLst>
          </p:cNvPr>
          <p:cNvSpPr/>
          <p:nvPr/>
        </p:nvSpPr>
        <p:spPr>
          <a:xfrm>
            <a:off x="5427039" y="4276425"/>
            <a:ext cx="1392419" cy="8432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Bootstrap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5" name="四角形: 角を丸くする 54">
            <a:extLst>
              <a:ext uri="{FF2B5EF4-FFF2-40B4-BE49-F238E27FC236}">
                <a16:creationId xmlns:a16="http://schemas.microsoft.com/office/drawing/2014/main" id="{5AADC6AC-3481-402C-93C4-6CDCFC1EBAA2}"/>
              </a:ext>
            </a:extLst>
          </p:cNvPr>
          <p:cNvSpPr/>
          <p:nvPr/>
        </p:nvSpPr>
        <p:spPr>
          <a:xfrm>
            <a:off x="6974184" y="4288013"/>
            <a:ext cx="952988" cy="38973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3,4,5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6" name="四角形: 角を丸くする 55">
            <a:extLst>
              <a:ext uri="{FF2B5EF4-FFF2-40B4-BE49-F238E27FC236}">
                <a16:creationId xmlns:a16="http://schemas.microsoft.com/office/drawing/2014/main" id="{EC387402-ADBB-4B12-B301-175ACCBB0ECD}"/>
              </a:ext>
            </a:extLst>
          </p:cNvPr>
          <p:cNvSpPr/>
          <p:nvPr/>
        </p:nvSpPr>
        <p:spPr>
          <a:xfrm>
            <a:off x="6974182" y="4741562"/>
            <a:ext cx="952989" cy="38973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icons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7" name="四角形: 角を丸くする 56">
            <a:extLst>
              <a:ext uri="{FF2B5EF4-FFF2-40B4-BE49-F238E27FC236}">
                <a16:creationId xmlns:a16="http://schemas.microsoft.com/office/drawing/2014/main" id="{BD6A3486-B0EA-4325-A9DA-D8767FA5271F}"/>
              </a:ext>
            </a:extLst>
          </p:cNvPr>
          <p:cNvSpPr/>
          <p:nvPr/>
        </p:nvSpPr>
        <p:spPr>
          <a:xfrm>
            <a:off x="2544179" y="4288012"/>
            <a:ext cx="2728091" cy="38973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JQuery3.x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8" name="四角形: 角を丸くする 57">
            <a:extLst>
              <a:ext uri="{FF2B5EF4-FFF2-40B4-BE49-F238E27FC236}">
                <a16:creationId xmlns:a16="http://schemas.microsoft.com/office/drawing/2014/main" id="{13852E8D-7F3A-436A-A0B4-C7A3ED2214D6}"/>
              </a:ext>
            </a:extLst>
          </p:cNvPr>
          <p:cNvSpPr/>
          <p:nvPr/>
        </p:nvSpPr>
        <p:spPr>
          <a:xfrm>
            <a:off x="2544179" y="4746826"/>
            <a:ext cx="2728091" cy="38973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dirty="0" err="1">
                <a:solidFill>
                  <a:schemeClr val="tx1"/>
                </a:solidFill>
              </a:rPr>
              <a:t>b</a:t>
            </a:r>
            <a:r>
              <a:rPr kumimoji="1" lang="en-US" altLang="ja-JP" dirty="0" err="1">
                <a:solidFill>
                  <a:schemeClr val="tx1"/>
                </a:solidFill>
              </a:rPr>
              <a:t>ase,black-tie,blazer</a:t>
            </a:r>
            <a:r>
              <a:rPr kumimoji="1" lang="en-US" altLang="ja-JP" dirty="0">
                <a:solidFill>
                  <a:schemeClr val="tx1"/>
                </a:solidFill>
              </a:rPr>
              <a:t>,…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9" name="四角形: 角を丸くする 58">
            <a:extLst>
              <a:ext uri="{FF2B5EF4-FFF2-40B4-BE49-F238E27FC236}">
                <a16:creationId xmlns:a16="http://schemas.microsoft.com/office/drawing/2014/main" id="{2E977BAA-FEFF-4D1B-995D-DE0918574858}"/>
              </a:ext>
            </a:extLst>
          </p:cNvPr>
          <p:cNvSpPr/>
          <p:nvPr/>
        </p:nvSpPr>
        <p:spPr>
          <a:xfrm>
            <a:off x="8071153" y="4276425"/>
            <a:ext cx="963732" cy="8432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Vue3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7" name="四角形: 角を丸くする 46">
            <a:extLst>
              <a:ext uri="{FF2B5EF4-FFF2-40B4-BE49-F238E27FC236}">
                <a16:creationId xmlns:a16="http://schemas.microsoft.com/office/drawing/2014/main" id="{05A365A0-BEAC-4A74-B56C-5A669A3C1D50}"/>
              </a:ext>
            </a:extLst>
          </p:cNvPr>
          <p:cNvSpPr/>
          <p:nvPr/>
        </p:nvSpPr>
        <p:spPr>
          <a:xfrm>
            <a:off x="4230780" y="1720850"/>
            <a:ext cx="1578223" cy="115824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ja-JP" dirty="0">
                <a:solidFill>
                  <a:schemeClr val="tx1"/>
                </a:solidFill>
              </a:rPr>
              <a:t>Functions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90555874-F27B-4644-A150-8C5F635B5815}"/>
              </a:ext>
            </a:extLst>
          </p:cNvPr>
          <p:cNvSpPr/>
          <p:nvPr/>
        </p:nvSpPr>
        <p:spPr>
          <a:xfrm>
            <a:off x="4520456" y="2149928"/>
            <a:ext cx="1120809" cy="56533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Efw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8" name="四角形: 角を丸くする 47">
            <a:extLst>
              <a:ext uri="{FF2B5EF4-FFF2-40B4-BE49-F238E27FC236}">
                <a16:creationId xmlns:a16="http://schemas.microsoft.com/office/drawing/2014/main" id="{2D34AFFE-0BC4-4D70-AD19-87C55A59A83E}"/>
              </a:ext>
            </a:extLst>
          </p:cNvPr>
          <p:cNvSpPr/>
          <p:nvPr/>
        </p:nvSpPr>
        <p:spPr>
          <a:xfrm>
            <a:off x="8172171" y="1885981"/>
            <a:ext cx="1031825" cy="8432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wait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9" name="四角形: 角を丸くする 48">
            <a:extLst>
              <a:ext uri="{FF2B5EF4-FFF2-40B4-BE49-F238E27FC236}">
                <a16:creationId xmlns:a16="http://schemas.microsoft.com/office/drawing/2014/main" id="{49E281C4-06AC-4B8B-9050-E239C5B5F14E}"/>
              </a:ext>
            </a:extLst>
          </p:cNvPr>
          <p:cNvSpPr/>
          <p:nvPr/>
        </p:nvSpPr>
        <p:spPr>
          <a:xfrm>
            <a:off x="9338591" y="1878330"/>
            <a:ext cx="1105390" cy="8432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preview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8243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DF5F531-3116-4425-A452-AD4BB1360E72}"/>
              </a:ext>
            </a:extLst>
          </p:cNvPr>
          <p:cNvSpPr/>
          <p:nvPr/>
        </p:nvSpPr>
        <p:spPr>
          <a:xfrm>
            <a:off x="0" y="0"/>
            <a:ext cx="12192000" cy="4324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ja-JP" sz="2000" b="1" dirty="0" err="1">
                <a:solidFill>
                  <a:schemeClr val="tx1"/>
                </a:solidFill>
              </a:rPr>
              <a:t>e</a:t>
            </a:r>
            <a:r>
              <a:rPr kumimoji="1" lang="en-US" altLang="ja-JP" sz="2000" b="1" dirty="0" err="1">
                <a:solidFill>
                  <a:schemeClr val="tx1"/>
                </a:solidFill>
              </a:rPr>
              <a:t>fw</a:t>
            </a:r>
            <a:r>
              <a:rPr kumimoji="1" lang="en-US" altLang="ja-JP" sz="2000" b="1" dirty="0">
                <a:solidFill>
                  <a:schemeClr val="tx1"/>
                </a:solidFill>
              </a:rPr>
              <a:t> framework (server)</a:t>
            </a:r>
            <a:endParaRPr kumimoji="1" lang="ja-JP" altLang="en-US" sz="2000" b="1" dirty="0">
              <a:solidFill>
                <a:schemeClr val="tx1"/>
              </a:solidFill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3AE243C0-507B-443B-9028-FFF499339647}"/>
              </a:ext>
            </a:extLst>
          </p:cNvPr>
          <p:cNvSpPr/>
          <p:nvPr/>
        </p:nvSpPr>
        <p:spPr>
          <a:xfrm>
            <a:off x="167640" y="487680"/>
            <a:ext cx="11856720" cy="115824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Classes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04518F40-859D-467B-95AE-E85F21FC2889}"/>
              </a:ext>
            </a:extLst>
          </p:cNvPr>
          <p:cNvSpPr/>
          <p:nvPr/>
        </p:nvSpPr>
        <p:spPr>
          <a:xfrm>
            <a:off x="167640" y="1722120"/>
            <a:ext cx="11856720" cy="1158240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Modules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6270CBF4-E627-4519-95D7-E3E902C4B4EE}"/>
              </a:ext>
            </a:extLst>
          </p:cNvPr>
          <p:cNvSpPr/>
          <p:nvPr/>
        </p:nvSpPr>
        <p:spPr>
          <a:xfrm>
            <a:off x="167640" y="2956560"/>
            <a:ext cx="6710804" cy="2331720"/>
          </a:xfrm>
          <a:prstGeom prst="roundRect">
            <a:avLst>
              <a:gd name="adj" fmla="val 7952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Controllers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260560E6-7AC5-4458-9525-29C98101FD83}"/>
              </a:ext>
            </a:extLst>
          </p:cNvPr>
          <p:cNvSpPr/>
          <p:nvPr/>
        </p:nvSpPr>
        <p:spPr>
          <a:xfrm>
            <a:off x="7046084" y="2961322"/>
            <a:ext cx="4978276" cy="2331720"/>
          </a:xfrm>
          <a:prstGeom prst="roundRect">
            <a:avLst>
              <a:gd name="adj" fmla="val 7952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JavaScript</a:t>
            </a:r>
          </a:p>
          <a:p>
            <a:r>
              <a:rPr kumimoji="1" lang="en-US" altLang="ja-JP" dirty="0">
                <a:solidFill>
                  <a:schemeClr val="tx1"/>
                </a:solidFill>
              </a:rPr>
              <a:t>Customization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6BBACF34-8945-4EDC-A551-116648BD6C5F}"/>
              </a:ext>
            </a:extLst>
          </p:cNvPr>
          <p:cNvSpPr/>
          <p:nvPr/>
        </p:nvSpPr>
        <p:spPr>
          <a:xfrm>
            <a:off x="2163358" y="3069735"/>
            <a:ext cx="1426025" cy="53880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efwServlet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A4ADAF58-9615-46C8-A074-FDE9E4B9B18F}"/>
              </a:ext>
            </a:extLst>
          </p:cNvPr>
          <p:cNvSpPr/>
          <p:nvPr/>
        </p:nvSpPr>
        <p:spPr>
          <a:xfrm>
            <a:off x="6458946" y="1877054"/>
            <a:ext cx="1394460" cy="84328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properties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121ADA49-96CB-4A4A-8249-075BF2B72842}"/>
              </a:ext>
            </a:extLst>
          </p:cNvPr>
          <p:cNvSpPr/>
          <p:nvPr/>
        </p:nvSpPr>
        <p:spPr>
          <a:xfrm>
            <a:off x="7964657" y="1877054"/>
            <a:ext cx="1415630" cy="84328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db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C5DC5F2D-B653-4B1F-BEA5-C531276871D1}"/>
              </a:ext>
            </a:extLst>
          </p:cNvPr>
          <p:cNvSpPr/>
          <p:nvPr/>
        </p:nvSpPr>
        <p:spPr>
          <a:xfrm>
            <a:off x="9496487" y="1879600"/>
            <a:ext cx="1120809" cy="38973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mail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DDEE6381-15D4-4787-8D3D-E2C32963623B}"/>
              </a:ext>
            </a:extLst>
          </p:cNvPr>
          <p:cNvSpPr/>
          <p:nvPr/>
        </p:nvSpPr>
        <p:spPr>
          <a:xfrm>
            <a:off x="10733495" y="2343717"/>
            <a:ext cx="1120809" cy="37916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brms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E760ADBE-9C8B-4093-9FF3-69987424275B}"/>
              </a:ext>
            </a:extLst>
          </p:cNvPr>
          <p:cNvSpPr/>
          <p:nvPr/>
        </p:nvSpPr>
        <p:spPr>
          <a:xfrm>
            <a:off x="10733496" y="1892299"/>
            <a:ext cx="1120809" cy="37703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rest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34A6C2FE-68F3-4061-83EF-D45A3277D104}"/>
              </a:ext>
            </a:extLst>
          </p:cNvPr>
          <p:cNvSpPr/>
          <p:nvPr/>
        </p:nvSpPr>
        <p:spPr>
          <a:xfrm>
            <a:off x="9489109" y="4053106"/>
            <a:ext cx="1120809" cy="8432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efw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9EFAF7EA-5497-4C22-8129-D80501FD22B4}"/>
              </a:ext>
            </a:extLst>
          </p:cNvPr>
          <p:cNvSpPr/>
          <p:nvPr/>
        </p:nvSpPr>
        <p:spPr>
          <a:xfrm>
            <a:off x="9489109" y="2341362"/>
            <a:ext cx="1120809" cy="37211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cmd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04112838-3115-4EBC-A0A3-7E4DF8075FC6}"/>
              </a:ext>
            </a:extLst>
          </p:cNvPr>
          <p:cNvSpPr/>
          <p:nvPr/>
        </p:nvSpPr>
        <p:spPr>
          <a:xfrm>
            <a:off x="2870692" y="2341362"/>
            <a:ext cx="1046625" cy="36695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request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8A221BC5-9671-447B-8DA1-4C44BCBF8D6E}"/>
              </a:ext>
            </a:extLst>
          </p:cNvPr>
          <p:cNvSpPr/>
          <p:nvPr/>
        </p:nvSpPr>
        <p:spPr>
          <a:xfrm>
            <a:off x="2875367" y="1881338"/>
            <a:ext cx="1046625" cy="38799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cookie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8E17C681-4260-4A69-8285-F1AF89DBC441}"/>
              </a:ext>
            </a:extLst>
          </p:cNvPr>
          <p:cNvSpPr/>
          <p:nvPr/>
        </p:nvSpPr>
        <p:spPr>
          <a:xfrm>
            <a:off x="1691900" y="2327233"/>
            <a:ext cx="1062592" cy="38623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session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448D78C2-69BF-4DCC-BE01-0403B10E6ECD}"/>
              </a:ext>
            </a:extLst>
          </p:cNvPr>
          <p:cNvSpPr/>
          <p:nvPr/>
        </p:nvSpPr>
        <p:spPr>
          <a:xfrm>
            <a:off x="4031075" y="1877484"/>
            <a:ext cx="1085262" cy="39184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file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7C4ECF24-9569-4CCF-B8F0-3BD38E0C3168}"/>
              </a:ext>
            </a:extLst>
          </p:cNvPr>
          <p:cNvSpPr/>
          <p:nvPr/>
        </p:nvSpPr>
        <p:spPr>
          <a:xfrm>
            <a:off x="4031075" y="2341362"/>
            <a:ext cx="1085263" cy="35745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>
                <a:solidFill>
                  <a:schemeClr val="tx1"/>
                </a:solidFill>
              </a:rPr>
              <a:t>absfile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56BD0C97-A6C6-4FE4-9B6B-559D4A8CCEBA}"/>
              </a:ext>
            </a:extLst>
          </p:cNvPr>
          <p:cNvSpPr/>
          <p:nvPr/>
        </p:nvSpPr>
        <p:spPr>
          <a:xfrm>
            <a:off x="5214560" y="1877054"/>
            <a:ext cx="1120809" cy="83125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event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623CAF16-EF4D-44CF-B4F4-3A2C82555877}"/>
              </a:ext>
            </a:extLst>
          </p:cNvPr>
          <p:cNvSpPr/>
          <p:nvPr/>
        </p:nvSpPr>
        <p:spPr>
          <a:xfrm>
            <a:off x="10669779" y="661419"/>
            <a:ext cx="1184526" cy="8432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Threads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702F79E1-D8E1-4B7C-B5B1-FCBFC4AE350B}"/>
              </a:ext>
            </a:extLst>
          </p:cNvPr>
          <p:cNvSpPr/>
          <p:nvPr/>
        </p:nvSpPr>
        <p:spPr>
          <a:xfrm>
            <a:off x="9489552" y="3081179"/>
            <a:ext cx="1120809" cy="8432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.debug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F7895A2D-CDED-41B9-A36B-F1B10D927260}"/>
              </a:ext>
            </a:extLst>
          </p:cNvPr>
          <p:cNvSpPr/>
          <p:nvPr/>
        </p:nvSpPr>
        <p:spPr>
          <a:xfrm>
            <a:off x="10733495" y="3081179"/>
            <a:ext cx="1120809" cy="8432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.format/.parse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8E244D7C-8EA5-4B10-90FD-1E34D4003B6A}"/>
              </a:ext>
            </a:extLst>
          </p:cNvPr>
          <p:cNvSpPr/>
          <p:nvPr/>
        </p:nvSpPr>
        <p:spPr>
          <a:xfrm>
            <a:off x="10730482" y="4053106"/>
            <a:ext cx="1120809" cy="8432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Math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3627285F-F4C1-4EC3-B3A0-81D933362CA3}"/>
              </a:ext>
            </a:extLst>
          </p:cNvPr>
          <p:cNvSpPr/>
          <p:nvPr/>
        </p:nvSpPr>
        <p:spPr>
          <a:xfrm>
            <a:off x="8236485" y="4061916"/>
            <a:ext cx="1120809" cy="8432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[Global]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7823FDE4-1066-40A0-8B79-8703E6CE5919}"/>
              </a:ext>
            </a:extLst>
          </p:cNvPr>
          <p:cNvSpPr/>
          <p:nvPr/>
        </p:nvSpPr>
        <p:spPr>
          <a:xfrm>
            <a:off x="5318564" y="3075582"/>
            <a:ext cx="1366806" cy="54450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efwBatch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6" name="四角形: 角を丸くする 45">
            <a:extLst>
              <a:ext uri="{FF2B5EF4-FFF2-40B4-BE49-F238E27FC236}">
                <a16:creationId xmlns:a16="http://schemas.microsoft.com/office/drawing/2014/main" id="{51A8AE75-B941-4B43-9878-52931CC0669C}"/>
              </a:ext>
            </a:extLst>
          </p:cNvPr>
          <p:cNvSpPr/>
          <p:nvPr/>
        </p:nvSpPr>
        <p:spPr>
          <a:xfrm>
            <a:off x="2155497" y="3701237"/>
            <a:ext cx="1429761" cy="53880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efwFilter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7" name="四角形: 角を丸くする 46">
            <a:extLst>
              <a:ext uri="{FF2B5EF4-FFF2-40B4-BE49-F238E27FC236}">
                <a16:creationId xmlns:a16="http://schemas.microsoft.com/office/drawing/2014/main" id="{06D781DB-1E0E-4D3C-AA62-6432139D72C1}"/>
              </a:ext>
            </a:extLst>
          </p:cNvPr>
          <p:cNvSpPr/>
          <p:nvPr/>
        </p:nvSpPr>
        <p:spPr>
          <a:xfrm>
            <a:off x="3705822" y="3704688"/>
            <a:ext cx="2998543" cy="54450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efwWebSocket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8" name="四角形: 角を丸くする 47">
            <a:extLst>
              <a:ext uri="{FF2B5EF4-FFF2-40B4-BE49-F238E27FC236}">
                <a16:creationId xmlns:a16="http://schemas.microsoft.com/office/drawing/2014/main" id="{BB1E1A83-124D-4692-B019-2F6060E2043C}"/>
              </a:ext>
            </a:extLst>
          </p:cNvPr>
          <p:cNvSpPr/>
          <p:nvPr/>
        </p:nvSpPr>
        <p:spPr>
          <a:xfrm>
            <a:off x="3709423" y="3081277"/>
            <a:ext cx="1486007" cy="53880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efwRestAPI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9" name="四角形: 角を丸くする 48">
            <a:extLst>
              <a:ext uri="{FF2B5EF4-FFF2-40B4-BE49-F238E27FC236}">
                <a16:creationId xmlns:a16="http://schemas.microsoft.com/office/drawing/2014/main" id="{94E41004-0516-4EA2-BE45-FFF26A70D51A}"/>
              </a:ext>
            </a:extLst>
          </p:cNvPr>
          <p:cNvSpPr/>
          <p:nvPr/>
        </p:nvSpPr>
        <p:spPr>
          <a:xfrm>
            <a:off x="945495" y="4360024"/>
            <a:ext cx="2113230" cy="52682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downloadServlet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0" name="四角形: 角を丸くする 49">
            <a:extLst>
              <a:ext uri="{FF2B5EF4-FFF2-40B4-BE49-F238E27FC236}">
                <a16:creationId xmlns:a16="http://schemas.microsoft.com/office/drawing/2014/main" id="{79888F8B-E139-4CB5-A04B-3CC247911DB9}"/>
              </a:ext>
            </a:extLst>
          </p:cNvPr>
          <p:cNvSpPr/>
          <p:nvPr/>
        </p:nvSpPr>
        <p:spPr>
          <a:xfrm>
            <a:off x="3149277" y="4360023"/>
            <a:ext cx="1878222" cy="53698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uploadServlet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1" name="四角形: 角を丸くする 50">
            <a:extLst>
              <a:ext uri="{FF2B5EF4-FFF2-40B4-BE49-F238E27FC236}">
                <a16:creationId xmlns:a16="http://schemas.microsoft.com/office/drawing/2014/main" id="{38D7EF5C-D484-41EA-9E1D-59CDEEBA23BE}"/>
              </a:ext>
            </a:extLst>
          </p:cNvPr>
          <p:cNvSpPr/>
          <p:nvPr/>
        </p:nvSpPr>
        <p:spPr>
          <a:xfrm>
            <a:off x="5111503" y="4361320"/>
            <a:ext cx="1592862" cy="54450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drawServlet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6EC3EAF-0674-43C2-995D-92393C03CEAE}"/>
              </a:ext>
            </a:extLst>
          </p:cNvPr>
          <p:cNvSpPr txBox="1"/>
          <p:nvPr/>
        </p:nvSpPr>
        <p:spPr>
          <a:xfrm>
            <a:off x="1156168" y="6289058"/>
            <a:ext cx="10479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000" b="1" dirty="0">
                <a:solidFill>
                  <a:srgbClr val="FF0000"/>
                </a:solidFill>
              </a:rPr>
              <a:t>8,…</a:t>
            </a:r>
            <a:endParaRPr kumimoji="1" lang="ja-JP" altLang="en-US" sz="3000" b="1" dirty="0">
              <a:solidFill>
                <a:srgbClr val="FF0000"/>
              </a:solidFill>
            </a:endParaRPr>
          </a:p>
        </p:txBody>
      </p:sp>
      <p:pic>
        <p:nvPicPr>
          <p:cNvPr id="2052" name="Picture 4" descr="TomcatのSSL設定をしてみる｜株式会社ネットアシスト">
            <a:extLst>
              <a:ext uri="{FF2B5EF4-FFF2-40B4-BE49-F238E27FC236}">
                <a16:creationId xmlns:a16="http://schemas.microsoft.com/office/drawing/2014/main" id="{9A255271-260A-4F20-A1B9-579C189F2C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2653" y="5599531"/>
            <a:ext cx="1023581" cy="1023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Java | Java Wiki | Fandom">
            <a:extLst>
              <a:ext uri="{FF2B5EF4-FFF2-40B4-BE49-F238E27FC236}">
                <a16:creationId xmlns:a16="http://schemas.microsoft.com/office/drawing/2014/main" id="{A89207DE-D5D3-45D0-B302-DB7A029D94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4940" y="5225604"/>
            <a:ext cx="1625685" cy="1625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5DD63596-6C24-44FC-A43E-86C1D557CF6D}"/>
              </a:ext>
            </a:extLst>
          </p:cNvPr>
          <p:cNvSpPr txBox="1"/>
          <p:nvPr/>
        </p:nvSpPr>
        <p:spPr>
          <a:xfrm>
            <a:off x="3435052" y="6309072"/>
            <a:ext cx="223529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000" b="1" dirty="0">
                <a:solidFill>
                  <a:srgbClr val="FF0000"/>
                </a:solidFill>
              </a:rPr>
              <a:t>7,…,11</a:t>
            </a:r>
            <a:endParaRPr kumimoji="1" lang="ja-JP" altLang="en-US" sz="3000" b="1" dirty="0">
              <a:solidFill>
                <a:srgbClr val="FF0000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604DCB3-8474-455C-95A7-D113DCB2166F}"/>
              </a:ext>
            </a:extLst>
          </p:cNvPr>
          <p:cNvSpPr txBox="1"/>
          <p:nvPr/>
        </p:nvSpPr>
        <p:spPr>
          <a:xfrm>
            <a:off x="4862967" y="6227401"/>
            <a:ext cx="10967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b="1" dirty="0"/>
              <a:t>OpenJDK </a:t>
            </a:r>
          </a:p>
          <a:p>
            <a:pPr algn="ctr"/>
            <a:r>
              <a:rPr lang="en-US" altLang="ja-JP" sz="1600" b="1" dirty="0" err="1"/>
              <a:t>Nathorn</a:t>
            </a:r>
            <a:endParaRPr kumimoji="1" lang="ja-JP" altLang="en-US" sz="1600" b="1" dirty="0"/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82F69B75-A8F0-4AC6-8344-2A0B38F80B2B}"/>
              </a:ext>
            </a:extLst>
          </p:cNvPr>
          <p:cNvSpPr txBox="1"/>
          <p:nvPr/>
        </p:nvSpPr>
        <p:spPr>
          <a:xfrm>
            <a:off x="5959730" y="6306537"/>
            <a:ext cx="199177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000" b="1" dirty="0">
                <a:solidFill>
                  <a:srgbClr val="FF0000"/>
                </a:solidFill>
              </a:rPr>
              <a:t>8,…,15.6</a:t>
            </a:r>
            <a:endParaRPr kumimoji="1" lang="ja-JP" altLang="en-US" sz="3000" b="1" dirty="0">
              <a:solidFill>
                <a:srgbClr val="FF0000"/>
              </a:solidFill>
            </a:endParaRPr>
          </a:p>
        </p:txBody>
      </p:sp>
      <p:pic>
        <p:nvPicPr>
          <p:cNvPr id="2060" name="Picture 12" descr="Page Comparison - Gallery (v.7 vs v.8) - Page Comparison - Gallery (v.7 vs  v.8) - OpenJDK Wiki">
            <a:extLst>
              <a:ext uri="{FF2B5EF4-FFF2-40B4-BE49-F238E27FC236}">
                <a16:creationId xmlns:a16="http://schemas.microsoft.com/office/drawing/2014/main" id="{A67F1295-F92C-4F12-BEC8-239A79B09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0076" y="5379324"/>
            <a:ext cx="536785" cy="909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E662D4D8-C61C-45BB-B4A1-D74A72FDAC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089" y="5356927"/>
            <a:ext cx="1219533" cy="1338149"/>
          </a:xfrm>
          <a:prstGeom prst="rect">
            <a:avLst/>
          </a:prstGeom>
        </p:spPr>
      </p:pic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46B4B3EF-10E0-4864-A5C8-ACC7A80BBF3A}"/>
              </a:ext>
            </a:extLst>
          </p:cNvPr>
          <p:cNvSpPr txBox="1"/>
          <p:nvPr/>
        </p:nvSpPr>
        <p:spPr>
          <a:xfrm>
            <a:off x="11236261" y="6305270"/>
            <a:ext cx="8468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000" b="1" dirty="0">
                <a:solidFill>
                  <a:srgbClr val="FF0000"/>
                </a:solidFill>
              </a:rPr>
              <a:t>7,8</a:t>
            </a:r>
            <a:endParaRPr kumimoji="1" lang="ja-JP" altLang="en-US" sz="3000" b="1" dirty="0">
              <a:solidFill>
                <a:srgbClr val="FF0000"/>
              </a:solidFill>
            </a:endParaRP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2F0B271C-671F-44C6-B25E-362D5E59E386}"/>
              </a:ext>
            </a:extLst>
          </p:cNvPr>
          <p:cNvSpPr txBox="1"/>
          <p:nvPr/>
        </p:nvSpPr>
        <p:spPr>
          <a:xfrm>
            <a:off x="8849887" y="6306537"/>
            <a:ext cx="199177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000" b="1" dirty="0">
                <a:solidFill>
                  <a:srgbClr val="FF0000"/>
                </a:solidFill>
              </a:rPr>
              <a:t>24.2.2</a:t>
            </a:r>
            <a:r>
              <a:rPr kumimoji="1" lang="en-US" altLang="ja-JP" sz="3000" b="1" dirty="0">
                <a:solidFill>
                  <a:srgbClr val="FF0000"/>
                </a:solidFill>
              </a:rPr>
              <a:t>,…</a:t>
            </a:r>
            <a:endParaRPr kumimoji="1" lang="ja-JP" altLang="en-US" sz="3000" b="1" dirty="0">
              <a:solidFill>
                <a:srgbClr val="FF0000"/>
              </a:solidFill>
            </a:endParaRPr>
          </a:p>
        </p:txBody>
      </p:sp>
      <p:pic>
        <p:nvPicPr>
          <p:cNvPr id="53" name="Picture 2" descr="GraalVM">
            <a:extLst>
              <a:ext uri="{FF2B5EF4-FFF2-40B4-BE49-F238E27FC236}">
                <a16:creationId xmlns:a16="http://schemas.microsoft.com/office/drawing/2014/main" id="{6879C1F6-8DD2-423B-BE29-53886CCFA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1687" y="5353785"/>
            <a:ext cx="1276985" cy="982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CEC670AD-F38D-4161-80C7-E66066246C14}"/>
              </a:ext>
            </a:extLst>
          </p:cNvPr>
          <p:cNvSpPr txBox="1"/>
          <p:nvPr/>
        </p:nvSpPr>
        <p:spPr>
          <a:xfrm>
            <a:off x="7753124" y="6227401"/>
            <a:ext cx="10967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b="1" dirty="0" err="1"/>
              <a:t>GraalJS</a:t>
            </a:r>
            <a:endParaRPr kumimoji="1" lang="ja-JP" altLang="en-US" sz="1600" b="1" dirty="0"/>
          </a:p>
        </p:txBody>
      </p:sp>
      <p:sp>
        <p:nvSpPr>
          <p:cNvPr id="56" name="四角形: 角を丸くする 55">
            <a:extLst>
              <a:ext uri="{FF2B5EF4-FFF2-40B4-BE49-F238E27FC236}">
                <a16:creationId xmlns:a16="http://schemas.microsoft.com/office/drawing/2014/main" id="{2824B9D7-17DA-4DD0-9DCE-7FA856A1B72C}"/>
              </a:ext>
            </a:extLst>
          </p:cNvPr>
          <p:cNvSpPr/>
          <p:nvPr/>
        </p:nvSpPr>
        <p:spPr>
          <a:xfrm>
            <a:off x="1298129" y="659755"/>
            <a:ext cx="1101566" cy="8432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Binary</a:t>
            </a:r>
          </a:p>
          <a:p>
            <a:pPr algn="ctr"/>
            <a:r>
              <a:rPr lang="en-US" altLang="ja-JP" dirty="0">
                <a:solidFill>
                  <a:schemeClr val="tx1"/>
                </a:solidFill>
              </a:rPr>
              <a:t>Reader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7" name="四角形: 角を丸くする 56">
            <a:extLst>
              <a:ext uri="{FF2B5EF4-FFF2-40B4-BE49-F238E27FC236}">
                <a16:creationId xmlns:a16="http://schemas.microsoft.com/office/drawing/2014/main" id="{4461FEA2-44C4-43CD-A0C2-B706F80732E7}"/>
              </a:ext>
            </a:extLst>
          </p:cNvPr>
          <p:cNvSpPr/>
          <p:nvPr/>
        </p:nvSpPr>
        <p:spPr>
          <a:xfrm>
            <a:off x="2452895" y="665493"/>
            <a:ext cx="1101566" cy="8432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Binary</a:t>
            </a:r>
          </a:p>
          <a:p>
            <a:pPr algn="ctr"/>
            <a:r>
              <a:rPr lang="en-US" altLang="ja-JP" dirty="0">
                <a:solidFill>
                  <a:schemeClr val="tx1"/>
                </a:solidFill>
              </a:rPr>
              <a:t>Writer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8" name="四角形: 角を丸くする 57">
            <a:extLst>
              <a:ext uri="{FF2B5EF4-FFF2-40B4-BE49-F238E27FC236}">
                <a16:creationId xmlns:a16="http://schemas.microsoft.com/office/drawing/2014/main" id="{796015C4-E2EA-4380-8D82-CC1C6ABDF40E}"/>
              </a:ext>
            </a:extLst>
          </p:cNvPr>
          <p:cNvSpPr/>
          <p:nvPr/>
        </p:nvSpPr>
        <p:spPr>
          <a:xfrm>
            <a:off x="3608223" y="668182"/>
            <a:ext cx="1101566" cy="8432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CSV</a:t>
            </a:r>
          </a:p>
          <a:p>
            <a:pPr algn="ctr"/>
            <a:r>
              <a:rPr lang="en-US" altLang="ja-JP" dirty="0">
                <a:solidFill>
                  <a:schemeClr val="tx1"/>
                </a:solidFill>
              </a:rPr>
              <a:t>Reader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60" name="四角形: 角を丸くする 59">
            <a:extLst>
              <a:ext uri="{FF2B5EF4-FFF2-40B4-BE49-F238E27FC236}">
                <a16:creationId xmlns:a16="http://schemas.microsoft.com/office/drawing/2014/main" id="{C3C0E699-16F6-459C-BF30-E17F417AFFDB}"/>
              </a:ext>
            </a:extLst>
          </p:cNvPr>
          <p:cNvSpPr/>
          <p:nvPr/>
        </p:nvSpPr>
        <p:spPr>
          <a:xfrm>
            <a:off x="4757680" y="672455"/>
            <a:ext cx="1026466" cy="8432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CSV</a:t>
            </a:r>
          </a:p>
          <a:p>
            <a:pPr algn="ctr"/>
            <a:r>
              <a:rPr lang="en-US" altLang="ja-JP" dirty="0">
                <a:solidFill>
                  <a:schemeClr val="tx1"/>
                </a:solidFill>
              </a:rPr>
              <a:t>Writer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61" name="四角形: 角を丸くする 60">
            <a:extLst>
              <a:ext uri="{FF2B5EF4-FFF2-40B4-BE49-F238E27FC236}">
                <a16:creationId xmlns:a16="http://schemas.microsoft.com/office/drawing/2014/main" id="{323CE20B-7240-4098-BE15-5B2B5E1EB34C}"/>
              </a:ext>
            </a:extLst>
          </p:cNvPr>
          <p:cNvSpPr/>
          <p:nvPr/>
        </p:nvSpPr>
        <p:spPr>
          <a:xfrm>
            <a:off x="5829921" y="657247"/>
            <a:ext cx="829950" cy="8432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Excel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62" name="四角形: 角を丸くする 61">
            <a:extLst>
              <a:ext uri="{FF2B5EF4-FFF2-40B4-BE49-F238E27FC236}">
                <a16:creationId xmlns:a16="http://schemas.microsoft.com/office/drawing/2014/main" id="{C8101649-CADF-4942-8F08-FF5C9CD21C76}"/>
              </a:ext>
            </a:extLst>
          </p:cNvPr>
          <p:cNvSpPr/>
          <p:nvPr/>
        </p:nvSpPr>
        <p:spPr>
          <a:xfrm>
            <a:off x="6751817" y="661802"/>
            <a:ext cx="1020230" cy="8432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Record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63" name="四角形: 角を丸くする 62">
            <a:extLst>
              <a:ext uri="{FF2B5EF4-FFF2-40B4-BE49-F238E27FC236}">
                <a16:creationId xmlns:a16="http://schemas.microsoft.com/office/drawing/2014/main" id="{3226F608-87FF-4891-AA86-BCF9A9118CF2}"/>
              </a:ext>
            </a:extLst>
          </p:cNvPr>
          <p:cNvSpPr/>
          <p:nvPr/>
        </p:nvSpPr>
        <p:spPr>
          <a:xfrm>
            <a:off x="8625166" y="664746"/>
            <a:ext cx="944633" cy="8432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Result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65" name="四角形: 角を丸くする 64">
            <a:extLst>
              <a:ext uri="{FF2B5EF4-FFF2-40B4-BE49-F238E27FC236}">
                <a16:creationId xmlns:a16="http://schemas.microsoft.com/office/drawing/2014/main" id="{C0E43982-A7D3-4D09-A4A5-8150810100C3}"/>
              </a:ext>
            </a:extLst>
          </p:cNvPr>
          <p:cNvSpPr/>
          <p:nvPr/>
        </p:nvSpPr>
        <p:spPr>
          <a:xfrm>
            <a:off x="9652282" y="677805"/>
            <a:ext cx="888082" cy="8432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Batch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66" name="四角形: 角を丸くする 65">
            <a:extLst>
              <a:ext uri="{FF2B5EF4-FFF2-40B4-BE49-F238E27FC236}">
                <a16:creationId xmlns:a16="http://schemas.microsoft.com/office/drawing/2014/main" id="{24D5498F-E55B-4A0B-AEDA-583630B3466D}"/>
              </a:ext>
            </a:extLst>
          </p:cNvPr>
          <p:cNvSpPr/>
          <p:nvPr/>
        </p:nvSpPr>
        <p:spPr>
          <a:xfrm>
            <a:off x="7832157" y="660416"/>
            <a:ext cx="736384" cy="8432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Pdf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67" name="四角形: 角を丸くする 66">
            <a:extLst>
              <a:ext uri="{FF2B5EF4-FFF2-40B4-BE49-F238E27FC236}">
                <a16:creationId xmlns:a16="http://schemas.microsoft.com/office/drawing/2014/main" id="{B7CA0433-3238-4ED1-941B-F96BD291DC26}"/>
              </a:ext>
            </a:extLst>
          </p:cNvPr>
          <p:cNvSpPr/>
          <p:nvPr/>
        </p:nvSpPr>
        <p:spPr>
          <a:xfrm>
            <a:off x="1678000" y="1868338"/>
            <a:ext cx="1077845" cy="38799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context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5408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DF5F531-3116-4425-A452-AD4BB1360E72}"/>
              </a:ext>
            </a:extLst>
          </p:cNvPr>
          <p:cNvSpPr/>
          <p:nvPr/>
        </p:nvSpPr>
        <p:spPr>
          <a:xfrm>
            <a:off x="0" y="0"/>
            <a:ext cx="12192000" cy="4067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ja-JP" sz="2000" b="1" dirty="0" err="1">
                <a:solidFill>
                  <a:schemeClr val="tx1"/>
                </a:solidFill>
              </a:rPr>
              <a:t>e</a:t>
            </a:r>
            <a:r>
              <a:rPr kumimoji="1" lang="en-US" altLang="ja-JP" sz="2000" b="1" dirty="0" err="1">
                <a:solidFill>
                  <a:schemeClr val="tx1"/>
                </a:solidFill>
              </a:rPr>
              <a:t>fw</a:t>
            </a:r>
            <a:r>
              <a:rPr kumimoji="1" lang="en-US" altLang="ja-JP" sz="2000" b="1" dirty="0">
                <a:solidFill>
                  <a:schemeClr val="tx1"/>
                </a:solidFill>
              </a:rPr>
              <a:t> framework </a:t>
            </a:r>
            <a:r>
              <a:rPr lang="en-US" altLang="ja-JP" sz="2000" b="1" dirty="0">
                <a:solidFill>
                  <a:schemeClr val="tx1"/>
                </a:solidFill>
              </a:rPr>
              <a:t>(Deployment)</a:t>
            </a:r>
            <a:endParaRPr kumimoji="1" lang="ja-JP" altLang="en-US" sz="2000" b="1" dirty="0">
              <a:solidFill>
                <a:schemeClr val="tx1"/>
              </a:solidFill>
            </a:endParaRPr>
          </a:p>
        </p:txBody>
      </p:sp>
      <p:sp>
        <p:nvSpPr>
          <p:cNvPr id="39" name="矢印: 左 38">
            <a:extLst>
              <a:ext uri="{FF2B5EF4-FFF2-40B4-BE49-F238E27FC236}">
                <a16:creationId xmlns:a16="http://schemas.microsoft.com/office/drawing/2014/main" id="{AB172D22-310C-4996-9933-A3841BDA052A}"/>
              </a:ext>
            </a:extLst>
          </p:cNvPr>
          <p:cNvSpPr/>
          <p:nvPr/>
        </p:nvSpPr>
        <p:spPr>
          <a:xfrm flipH="1">
            <a:off x="3900219" y="1538002"/>
            <a:ext cx="1798319" cy="1111060"/>
          </a:xfrm>
          <a:prstGeom prst="leftArrow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9DE50673-1C1A-4F9B-A75F-98E6755B8967}"/>
              </a:ext>
            </a:extLst>
          </p:cNvPr>
          <p:cNvGrpSpPr/>
          <p:nvPr/>
        </p:nvGrpSpPr>
        <p:grpSpPr>
          <a:xfrm>
            <a:off x="771946" y="1606043"/>
            <a:ext cx="1820539" cy="1872032"/>
            <a:chOff x="318926" y="1314140"/>
            <a:chExt cx="1820539" cy="1872032"/>
          </a:xfrm>
        </p:grpSpPr>
        <p:pic>
          <p:nvPicPr>
            <p:cNvPr id="10" name="Picture 4" descr="採用者・発注者目線】講師が現役プログラマのプログラミングスクール3選 | 40代独身男が生き抜くブログ">
              <a:extLst>
                <a:ext uri="{FF2B5EF4-FFF2-40B4-BE49-F238E27FC236}">
                  <a16:creationId xmlns:a16="http://schemas.microsoft.com/office/drawing/2014/main" id="{D8B37ED8-DBB4-44E6-A243-9A01FC57B5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926" y="1314140"/>
              <a:ext cx="1809875" cy="18720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Windows 7 のロゴ、Windows 11 のカラー/カラースキーム : r/windows">
              <a:extLst>
                <a:ext uri="{FF2B5EF4-FFF2-40B4-BE49-F238E27FC236}">
                  <a16:creationId xmlns:a16="http://schemas.microsoft.com/office/drawing/2014/main" id="{49E9C4F6-BC93-4AD4-B761-5D09C175A0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4520" y="2008181"/>
              <a:ext cx="1094945" cy="7299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9" name="Picture 8" descr="LINUXサーバー Intel Denverton世代Atom C3558搭載 5ベイ デスクトップNAS N5825 |  エム・シー・エム・ジャパン株式会社">
            <a:extLst>
              <a:ext uri="{FF2B5EF4-FFF2-40B4-BE49-F238E27FC236}">
                <a16:creationId xmlns:a16="http://schemas.microsoft.com/office/drawing/2014/main" id="{89CCC5CA-938F-40A4-8CA7-DA73A15C60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8538" y="1364409"/>
            <a:ext cx="749308" cy="749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サーバー入門】Windows Server 2019の初回起動時にまず実施したい設定項目 - ITエンジニアの備忘録的技術ブログ【仮】">
            <a:extLst>
              <a:ext uri="{FF2B5EF4-FFF2-40B4-BE49-F238E27FC236}">
                <a16:creationId xmlns:a16="http://schemas.microsoft.com/office/drawing/2014/main" id="{AE0698E2-F906-47C7-B8AD-CF442BE425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3114" y="1997449"/>
            <a:ext cx="1918260" cy="1013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Linux ロゴ の アイコン">
            <a:extLst>
              <a:ext uri="{FF2B5EF4-FFF2-40B4-BE49-F238E27FC236}">
                <a16:creationId xmlns:a16="http://schemas.microsoft.com/office/drawing/2014/main" id="{655854D2-BDC5-432E-ACBF-442065BA5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1192" y="1267757"/>
            <a:ext cx="1918260" cy="959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2" descr="Creating and Testing a Simple AWS Lambda Function in .NET | by Osama Haider  | Medium">
            <a:extLst>
              <a:ext uri="{FF2B5EF4-FFF2-40B4-BE49-F238E27FC236}">
                <a16:creationId xmlns:a16="http://schemas.microsoft.com/office/drawing/2014/main" id="{8B4C9459-817F-4B4A-BB49-E45D76EB9F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3464" y="3232578"/>
            <a:ext cx="2184952" cy="1229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4" descr="クラウド」アイコンのフリー素材（商用可）">
            <a:extLst>
              <a:ext uri="{FF2B5EF4-FFF2-40B4-BE49-F238E27FC236}">
                <a16:creationId xmlns:a16="http://schemas.microsoft.com/office/drawing/2014/main" id="{E620D7D0-4AC8-4100-A0AC-2E64E3BA67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6509" y="3311851"/>
            <a:ext cx="890611" cy="890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8" descr="LINUXサーバー Intel Denverton世代Atom C3558搭載 5ベイ デスクトップNAS N5825 |  エム・シー・エム・ジャパン株式会社">
            <a:extLst>
              <a:ext uri="{FF2B5EF4-FFF2-40B4-BE49-F238E27FC236}">
                <a16:creationId xmlns:a16="http://schemas.microsoft.com/office/drawing/2014/main" id="{860810E3-C95F-4731-8E45-04413C0BB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8538" y="2167405"/>
            <a:ext cx="749308" cy="749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Windows】コマンドでzipファイルを作る at softelメモ">
            <a:extLst>
              <a:ext uri="{FF2B5EF4-FFF2-40B4-BE49-F238E27FC236}">
                <a16:creationId xmlns:a16="http://schemas.microsoft.com/office/drawing/2014/main" id="{B3F2BD99-0FB3-457E-A894-198DAFDDFC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3035" y="2127546"/>
            <a:ext cx="548640" cy="548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開いたフォルダ アイコン Generic color lineal-color｜Magnific（旧Freepik）">
            <a:extLst>
              <a:ext uri="{FF2B5EF4-FFF2-40B4-BE49-F238E27FC236}">
                <a16:creationId xmlns:a16="http://schemas.microsoft.com/office/drawing/2014/main" id="{8F495546-8275-40D5-9733-4EB6D34154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7528" y="1448809"/>
            <a:ext cx="548640" cy="548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Dockerモニタリング - InstanaのAIを活用したAPMソリューションの一部 | IBM">
            <a:extLst>
              <a:ext uri="{FF2B5EF4-FFF2-40B4-BE49-F238E27FC236}">
                <a16:creationId xmlns:a16="http://schemas.microsoft.com/office/drawing/2014/main" id="{F9F66A79-78A2-4BF3-BEBF-58678EC3E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892" y="3172446"/>
            <a:ext cx="1472926" cy="1111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" name="矢印: 左 64">
            <a:extLst>
              <a:ext uri="{FF2B5EF4-FFF2-40B4-BE49-F238E27FC236}">
                <a16:creationId xmlns:a16="http://schemas.microsoft.com/office/drawing/2014/main" id="{B1CA4FA0-5F70-4AA6-A88E-CD6C087D3469}"/>
              </a:ext>
            </a:extLst>
          </p:cNvPr>
          <p:cNvSpPr/>
          <p:nvPr/>
        </p:nvSpPr>
        <p:spPr>
          <a:xfrm flipH="1">
            <a:off x="3900218" y="3291566"/>
            <a:ext cx="1798319" cy="1111060"/>
          </a:xfrm>
          <a:prstGeom prst="leftArrow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四角形: 角を丸くする 65">
            <a:extLst>
              <a:ext uri="{FF2B5EF4-FFF2-40B4-BE49-F238E27FC236}">
                <a16:creationId xmlns:a16="http://schemas.microsoft.com/office/drawing/2014/main" id="{7F2B7E77-F4E5-4CCF-B22F-6E8D7BDF1B9B}"/>
              </a:ext>
            </a:extLst>
          </p:cNvPr>
          <p:cNvSpPr/>
          <p:nvPr/>
        </p:nvSpPr>
        <p:spPr>
          <a:xfrm>
            <a:off x="2856745" y="957215"/>
            <a:ext cx="2327978" cy="43366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Folder or War file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67" name="四角形: 角を丸くする 66">
            <a:extLst>
              <a:ext uri="{FF2B5EF4-FFF2-40B4-BE49-F238E27FC236}">
                <a16:creationId xmlns:a16="http://schemas.microsoft.com/office/drawing/2014/main" id="{E7724CEE-4D74-48FE-B730-3A39243E618F}"/>
              </a:ext>
            </a:extLst>
          </p:cNvPr>
          <p:cNvSpPr/>
          <p:nvPr/>
        </p:nvSpPr>
        <p:spPr>
          <a:xfrm>
            <a:off x="2856745" y="3013017"/>
            <a:ext cx="2094028" cy="43366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Docker image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4912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177</Words>
  <Application>Microsoft Office PowerPoint</Application>
  <PresentationFormat>ワイド画面</PresentationFormat>
  <Paragraphs>115</Paragraphs>
  <Slides>4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常 珂軍</dc:creator>
  <cp:lastModifiedBy>常 珂軍</cp:lastModifiedBy>
  <cp:revision>306</cp:revision>
  <dcterms:created xsi:type="dcterms:W3CDTF">2024-10-02T03:00:54Z</dcterms:created>
  <dcterms:modified xsi:type="dcterms:W3CDTF">2026-07-28T04:15:55Z</dcterms:modified>
</cp:coreProperties>
</file>